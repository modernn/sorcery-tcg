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8c4c0adcda40a5" /><Relationship Type="http://schemas.openxmlformats.org/officeDocument/2006/relationships/extended-properties" Target="/docProps/app.xml" Id="Ra2a1827ff70e40bf" /><Relationship Type="http://schemas.openxmlformats.org/officeDocument/2006/relationships/officeDocument" Target="/ppt/presentation.xml" Id="R9ee31f4c14464a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6e748927a14057"/>
  </p:sldMasterIdLst>
  <p:notesMasterIdLst>
    <p:notesMasterId xmlns:r="http://schemas.openxmlformats.org/officeDocument/2006/relationships" r:id="R959fa714b14b492a"/>
  </p:notesMasterIdLst>
  <p:sldIdLst>
    <p:sldId xmlns:r="http://schemas.openxmlformats.org/officeDocument/2006/relationships" id="256" r:id="R6c8607a5ac5f4fed"/>
    <p:sldId xmlns:r="http://schemas.openxmlformats.org/officeDocument/2006/relationships" id="257" r:id="R19fae4eaab394973"/>
    <p:sldId xmlns:r="http://schemas.openxmlformats.org/officeDocument/2006/relationships" id="258" r:id="R6f2b6fba67b44569"/>
    <p:sldId xmlns:r="http://schemas.openxmlformats.org/officeDocument/2006/relationships" id="259" r:id="R55f5f6c4c42f4625"/>
    <p:sldId xmlns:r="http://schemas.openxmlformats.org/officeDocument/2006/relationships" id="260" r:id="R8b412d7708ed4bf0"/>
    <p:sldId xmlns:r="http://schemas.openxmlformats.org/officeDocument/2006/relationships" id="261" r:id="Rc297bee35b724728"/>
    <p:sldId xmlns:r="http://schemas.openxmlformats.org/officeDocument/2006/relationships" id="262" r:id="Ra927dba3bb21401d"/>
    <p:sldId xmlns:r="http://schemas.openxmlformats.org/officeDocument/2006/relationships" id="263" r:id="Red6b1d2abd7a41e5"/>
    <p:sldId xmlns:r="http://schemas.openxmlformats.org/officeDocument/2006/relationships" id="264" r:id="R7a97f06497044bfd"/>
    <p:sldId xmlns:r="http://schemas.openxmlformats.org/officeDocument/2006/relationships" id="265" r:id="Rcc8b0d6d9909429c"/>
    <p:sldId xmlns:r="http://schemas.openxmlformats.org/officeDocument/2006/relationships" id="266" r:id="R3608d5874b8d478d"/>
    <p:sldId xmlns:r="http://schemas.openxmlformats.org/officeDocument/2006/relationships" id="267" r:id="Ra28b8552242c427e"/>
    <p:sldId xmlns:r="http://schemas.openxmlformats.org/officeDocument/2006/relationships" id="268" r:id="R848ed91b93a740ad"/>
    <p:sldId xmlns:r="http://schemas.openxmlformats.org/officeDocument/2006/relationships" id="269" r:id="R72cc29a341b442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6d55f7fccf4e81" /><Relationship Type="http://schemas.openxmlformats.org/officeDocument/2006/relationships/slideMaster" Target="/ppt/slideMasters/slideMaster1.xml" Id="Rbc6e748927a14057" /><Relationship Type="http://schemas.openxmlformats.org/officeDocument/2006/relationships/notesMaster" Target="/ppt/notesMasters/notesMaster1.xml" Id="R959fa714b14b492a" /><Relationship Type="http://schemas.openxmlformats.org/officeDocument/2006/relationships/presProps" Target="/ppt/presProps.xml" Id="R1bd4be1728f04908" /><Relationship Type="http://schemas.openxmlformats.org/officeDocument/2006/relationships/tableStyles" Target="/ppt/tableStyles.xml" Id="R21e6ee2bd76e46f8" /><Relationship Type="http://schemas.openxmlformats.org/officeDocument/2006/relationships/slide" Target="/ppt/slides/slide1.xml" Id="R6c8607a5ac5f4fed" /><Relationship Type="http://schemas.openxmlformats.org/officeDocument/2006/relationships/slide" Target="/ppt/slides/slide2.xml" Id="R19fae4eaab394973" /><Relationship Type="http://schemas.openxmlformats.org/officeDocument/2006/relationships/slide" Target="/ppt/slides/slide3.xml" Id="R6f2b6fba67b44569" /><Relationship Type="http://schemas.openxmlformats.org/officeDocument/2006/relationships/slide" Target="/ppt/slides/slide4.xml" Id="R55f5f6c4c42f4625" /><Relationship Type="http://schemas.openxmlformats.org/officeDocument/2006/relationships/slide" Target="/ppt/slides/slide5.xml" Id="R8b412d7708ed4bf0" /><Relationship Type="http://schemas.openxmlformats.org/officeDocument/2006/relationships/slide" Target="/ppt/slides/slide6.xml" Id="Rc297bee35b724728" /><Relationship Type="http://schemas.openxmlformats.org/officeDocument/2006/relationships/slide" Target="/ppt/slides/slide7.xml" Id="Ra927dba3bb21401d" /><Relationship Type="http://schemas.openxmlformats.org/officeDocument/2006/relationships/slide" Target="/ppt/slides/slide8.xml" Id="Red6b1d2abd7a41e5" /><Relationship Type="http://schemas.openxmlformats.org/officeDocument/2006/relationships/slide" Target="/ppt/slides/slide9.xml" Id="R7a97f06497044bfd" /><Relationship Type="http://schemas.openxmlformats.org/officeDocument/2006/relationships/slide" Target="/ppt/slides/slide10.xml" Id="Rcc8b0d6d9909429c" /><Relationship Type="http://schemas.openxmlformats.org/officeDocument/2006/relationships/slide" Target="/ppt/slides/slide11.xml" Id="R3608d5874b8d478d" /><Relationship Type="http://schemas.openxmlformats.org/officeDocument/2006/relationships/slide" Target="/ppt/slides/slide12.xml" Id="Ra28b8552242c427e" /><Relationship Type="http://schemas.openxmlformats.org/officeDocument/2006/relationships/slide" Target="/ppt/slides/slide13.xml" Id="R848ed91b93a740ad" /><Relationship Type="http://schemas.openxmlformats.org/officeDocument/2006/relationships/slide" Target="/ppt/slides/slide14.xml" Id="R72cc29a341b442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f275e3f5d047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a10095e9a94a00" /><Relationship Type="http://schemas.openxmlformats.org/officeDocument/2006/relationships/notesMaster" Target="/ppt/notesMasters/notesMaster1.xml" Id="R9184d4cbf9d347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8fcdeefb424b2a" /><Relationship Type="http://schemas.openxmlformats.org/officeDocument/2006/relationships/notesMaster" Target="/ppt/notesMasters/notesMaster1.xml" Id="R8c8cec1cab8e40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7826b925e14ca1" /><Relationship Type="http://schemas.openxmlformats.org/officeDocument/2006/relationships/notesMaster" Target="/ppt/notesMasters/notesMaster1.xml" Id="Rfa49d4679dbe40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1e32409939440d" /><Relationship Type="http://schemas.openxmlformats.org/officeDocument/2006/relationships/notesMaster" Target="/ppt/notesMasters/notesMaster1.xml" Id="R1fdaf7a3f0b740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0643cfdca14f71" /><Relationship Type="http://schemas.openxmlformats.org/officeDocument/2006/relationships/notesMaster" Target="/ppt/notesMasters/notesMaster1.xml" Id="Rcd7621e1055e45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25456ee0614ef4" /><Relationship Type="http://schemas.openxmlformats.org/officeDocument/2006/relationships/notesMaster" Target="/ppt/notesMasters/notesMaster1.xml" Id="R81302a915d934e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ba907d4df546cc" /><Relationship Type="http://schemas.openxmlformats.org/officeDocument/2006/relationships/notesMaster" Target="/ppt/notesMasters/notesMaster1.xml" Id="R5827d973f79244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6e6c4c17d44003" /><Relationship Type="http://schemas.openxmlformats.org/officeDocument/2006/relationships/notesMaster" Target="/ppt/notesMasters/notesMaster1.xml" Id="Rb88b9b0197ce45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2f05b2c7c74a55" /><Relationship Type="http://schemas.openxmlformats.org/officeDocument/2006/relationships/notesMaster" Target="/ppt/notesMasters/notesMaster1.xml" Id="Rc108acb9136c4e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88ac689a1b4d3c" /><Relationship Type="http://schemas.openxmlformats.org/officeDocument/2006/relationships/notesMaster" Target="/ppt/notesMasters/notesMaster1.xml" Id="R1e9e14d343c0445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3209642db74b67" /><Relationship Type="http://schemas.openxmlformats.org/officeDocument/2006/relationships/notesMaster" Target="/ppt/notesMasters/notesMaster1.xml" Id="R2042363f9ab44ad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91e8ad128dc4038" /><Relationship Type="http://schemas.openxmlformats.org/officeDocument/2006/relationships/notesMaster" Target="/ppt/notesMasters/notesMaster1.xml" Id="R5c88b4514c8748f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33179364de64041" /><Relationship Type="http://schemas.openxmlformats.org/officeDocument/2006/relationships/notesMaster" Target="/ppt/notesMasters/notesMaster1.xml" Id="Rce224407f8574ee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f9e46317a624dd6" /><Relationship Type="http://schemas.openxmlformats.org/officeDocument/2006/relationships/notesMaster" Target="/ppt/notesMasters/notesMaster1.xml" Id="Rc722be483ff449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durable split: the Rust engine is the referee; strategists are replaceable clients.</a:t>
            </a:r>
          </a:p>
          <a:p xmlns:a="http://schemas.openxmlformats.org/drawingml/2006/main">
            <a:r>
              <a:t>The user interface is deliberately not the focus of this phase.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C:\src\sorcery-tcg\AGENTS.md</a:t>
            </a:r>
          </a:p>
          <a:p xmlns:a="http://schemas.openxmlformats.org/drawingml/2006/main">
            <a:r>
              <a:t>- User architecture brief in the active project thread, 2026-08-31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defines the product in plain language before showing components.</a:t>
            </a:r>
          </a:p>
          <a:p xmlns:a="http://schemas.openxmlformats.org/drawingml/2006/main">
            <a:r>
              <a:t>Emphasize that LLM quality can change without threatening rules correctness.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C:\src\sorcery-tcg\AGENTS.md</a:t>
            </a:r>
          </a:p>
          <a:p xmlns:a="http://schemas.openxmlformats.org/drawingml/2006/main">
            <a:r>
              <a:t>- C:\src\sorcery-tcg\docs\rules-catalog.md</a:t>
            </a:r>
          </a:p>
          <a:p xmlns:a="http://schemas.openxmlformats.org/drawingml/2006/main">
            <a:r>
              <a:t>- User scope clarification in the active project thread, 2026-08-31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deck's primary architecture diagram.</a:t>
            </a:r>
          </a:p>
          <a:p xmlns:a="http://schemas.openxmlformats.org/drawingml/2006/main">
            <a:r>
              <a:t>The MCP facade is planned; the Rust engine, batch/search library, checkpoints, and replay path already exist in native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C:\src\sorcery-tcg\AGENTS.md</a:t>
            </a:r>
          </a:p>
          <a:p xmlns:a="http://schemas.openxmlformats.org/drawingml/2006/main">
            <a:r>
              <a:t>- C:\src\sorcery-tcg\crates\sorcery-engine\src\lib.rs</a:t>
            </a:r>
          </a:p>
          <a:p xmlns:a="http://schemas.openxmlformats.org/drawingml/2006/main">
            <a:r>
              <a:t>- C:\src\sorcery-tcg\crates\sorcery-engine\src\session.rs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cut line is based on authority, not language preference.</a:t>
            </a:r>
          </a:p>
          <a:p xmlns:a="http://schemas.openxmlformats.org/drawingml/2006/main">
            <a:r>
              <a:t>TypeScript remains useful at external boundaries, but does not retain a duplicate rules engine after cutover.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C:\src\sorcery-tcg\AGENTS.md</a:t>
            </a:r>
          </a:p>
          <a:p xmlns:a="http://schemas.openxmlformats.org/drawingml/2006/main">
            <a:r>
              <a:t>- C:\src\sorcery-tcg\package.json</a:t>
            </a:r>
          </a:p>
          <a:p xmlns:a="http://schemas.openxmlformats.org/drawingml/2006/main">
            <a:r>
              <a:t>- User architecture brief in the active project thread, 2026-08-31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one turn-level transaction rather than implementation internals.</a:t>
            </a:r>
          </a:p>
          <a:p xmlns:a="http://schemas.openxmlformats.org/drawingml/2006/main">
            <a:r>
              <a:t>State version and typed descriptor revalidation are the safety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C:\src\sorcery-tcg\crates\sorcery-engine\src\action.rs</a:t>
            </a:r>
          </a:p>
          <a:p xmlns:a="http://schemas.openxmlformats.org/drawingml/2006/main">
            <a:r>
              <a:t>- C:\src\sorcery-tcg\crates\sorcery-engine\src\game.rs</a:t>
            </a:r>
          </a:p>
          <a:p xmlns:a="http://schemas.openxmlformats.org/drawingml/2006/main">
            <a:r>
              <a:t>- C:\src\sorcery-tcg\crates\sorcery-engine\src\session.rs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JSON is a synthetic generic example, not official card data.</a:t>
            </a:r>
          </a:p>
          <a:p xmlns:a="http://schemas.openxmlformats.org/drawingml/2006/main">
            <a:r>
              <a:t>The counts are read from the public catalog at deck creation time: 160 total, 42 Rust-supported.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C:\src\sorcery-tcg\data\rules\catalog.json</a:t>
            </a:r>
          </a:p>
          <a:p xmlns:a="http://schemas.openxmlformats.org/drawingml/2006/main">
            <a:r>
              <a:t>- C:\src\sorcery-tcg\docs\rules-catalog.md</a:t>
            </a:r>
          </a:p>
          <a:p xmlns:a="http://schemas.openxmlformats.org/drawingml/2006/main">
            <a:r>
              <a:t>- C:\src\sorcery-tcg\crates\sorcery-engine\src\facts.rs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Checkpoints optimize branching; replay preserves auditability.</a:t>
            </a:r>
          </a:p>
          <a:p xmlns:a="http://schemas.openxmlformats.org/drawingml/2006/main">
            <a:r>
              <a:t>The same seed and manifest are meaningful only when canonical action ordering and PRNG domains are stable.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C:\src\sorcery-tcg\crates\sorcery-engine\src\checkpoint.rs</a:t>
            </a:r>
          </a:p>
          <a:p xmlns:a="http://schemas.openxmlformats.org/drawingml/2006/main">
            <a:r>
              <a:t>- C:\src\sorcery-tcg\crates\sorcery-engine\src\prng.rs</a:t>
            </a:r>
          </a:p>
          <a:p xmlns:a="http://schemas.openxmlformats.org/drawingml/2006/main">
            <a:r>
              <a:t>- C:\src\sorcery-tcg\crates\sorcery-engine\src\session.rs</a:t>
            </a:r>
          </a:p>
          <a:p xmlns:a="http://schemas.openxmlformats.org/drawingml/2006/main">
            <a:r>
              <a:t>- C:\src\sorcery-tcg\AGENTS.md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hot-path design: many lightweight speculative nodes, one rich authoritative replay for the winner.</a:t>
            </a:r>
          </a:p>
          <a:p xmlns:a="http://schemas.openxmlformats.org/drawingml/2006/main">
            <a:r>
              <a:t>Compact cloning is the current default; apply/unapply is reserved for evidence from profiling.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C:\src\sorcery-tcg\crates\sorcery-engine\src\batch.rs</a:t>
            </a:r>
          </a:p>
          <a:p xmlns:a="http://schemas.openxmlformats.org/drawingml/2006/main">
            <a:r>
              <a:t>- C:\src\sorcery-tcg\crates\sorcery-engine\src\simulator.rs</a:t>
            </a:r>
          </a:p>
          <a:p xmlns:a="http://schemas.openxmlformats.org/drawingml/2006/main">
            <a:r>
              <a:t>- C:\src\sorcery-tcg\crates\sorcery-engine\src\checkpoint.rs</a:t>
            </a:r>
          </a:p>
          <a:p xmlns:a="http://schemas.openxmlformats.org/drawingml/2006/main">
            <a:r>
              <a:t>- User performance principles in the active project thread, 2026-08-31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left side is intentionally labeled planned. These names are proposed tool contracts, not current commands.</a:t>
            </a:r>
          </a:p>
          <a:p xmlns:a="http://schemas.openxmlformats.org/drawingml/2006/main">
            <a:r>
              <a:t>The right side reflects implemented native CLI/library capabilities.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C:\src\sorcery-tcg\package.json</a:t>
            </a:r>
          </a:p>
          <a:p xmlns:a="http://schemas.openxmlformats.org/drawingml/2006/main">
            <a:r>
              <a:t>- C:\src\sorcery-tcg\crates\sorcery-engine\src\bin\sorcery-engine.rs</a:t>
            </a:r>
          </a:p>
          <a:p xmlns:a="http://schemas.openxmlformats.org/drawingml/2006/main">
            <a:r>
              <a:t>- C:\src\sorcery-tcg\crates\sorcery-engine\src\bin\engine-benchmark.rs</a:t>
            </a:r>
          </a:p>
          <a:p xmlns:a="http://schemas.openxmlformats.org/drawingml/2006/main">
            <a:r>
              <a:t>- C:\src\sorcery-tcg\crates\sorcery-engine\src\lib.rs</a:t>
            </a:r>
          </a:p>
          <a:p xmlns:a="http://schemas.openxmlformats.org/drawingml/2006/main">
            <a:r>
              <a:t>- User MCP architecture request in the active project thread, 2026-08-31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Pareto frontier avoids pretending price and strength collapse into one arbitrary score.</a:t>
            </a:r>
          </a:p>
          <a:p xmlns:a="http://schemas.openxmlformats.org/drawingml/2006/main">
            <a:r>
              <a:t>All candidates must use the same deterministic evaluation matrix before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C:\src\sorcery-tcg\crates\sorcery-engine\src\gauntlet.rs</a:t>
            </a:r>
          </a:p>
          <a:p xmlns:a="http://schemas.openxmlformats.org/drawingml/2006/main">
            <a:r>
              <a:t>- C:\src\sorcery-tcg\crates\sorcery-engine\src\simulator.rs</a:t>
            </a:r>
          </a:p>
          <a:p xmlns:a="http://schemas.openxmlformats.org/drawingml/2006/main">
            <a:r>
              <a:t>- C:\src\sorcery-tcg\skills\sorcery-master\SKILL.md</a:t>
            </a:r>
          </a:p>
          <a:p xmlns:a="http://schemas.openxmlformats.org/drawingml/2006/main">
            <a:r>
              <a:t>- User deck-cost objective in the active project thread, 2026-08-31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combines the data-ingestion and privacy/trust story.</a:t>
            </a:r>
          </a:p>
          <a:p xmlns:a="http://schemas.openxmlformats.org/drawingml/2006/main">
            <a:r>
              <a:t>The current TopDeck adapter is for manual private research and does not authorize redistribution.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C:\src\sorcery-tcg\docs\external-reuse-policy.md</a:t>
            </a:r>
          </a:p>
          <a:p xmlns:a="http://schemas.openxmlformats.org/drawingml/2006/main">
            <a:r>
              <a:t>- C:\src\sorcery-tcg\docs\authority-precedence.md</a:t>
            </a:r>
          </a:p>
          <a:p xmlns:a="http://schemas.openxmlformats.org/drawingml/2006/main">
            <a:r>
              <a:t>- C:\src\sorcery-tcg\src\ingestion\topdeck.ts</a:t>
            </a:r>
          </a:p>
          <a:p xmlns:a="http://schemas.openxmlformats.org/drawingml/2006/main">
            <a:r>
              <a:t>- C:\src\sorcery-tcg\src\ingestion\topdeck-candidates.ts</a:t>
            </a:r>
          </a:p>
          <a:p xmlns:a="http://schemas.openxmlformats.org/drawingml/2006/main">
            <a:r>
              <a:t>- C:\src\sorcery-tcg\AGENTS.md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second and final full relational diagram.</a:t>
            </a:r>
          </a:p>
          <a:p xmlns:a="http://schemas.openxmlformats.org/drawingml/2006/main">
            <a:r>
              <a:t>Training seeds are for exploration; held-out seeds and opponents gate promotion.</a:t>
            </a:r>
          </a:p>
          <a:p xmlns:a="http://schemas.openxmlformats.org/drawingml/2006/main">
            <a:r>
              <a:t>The strategist remains bound to the assigned deck unless the owner explicitly asks for deck refinement.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C:\src\sorcery-tcg\skills\sorcery-master\SKILL.md</a:t>
            </a:r>
          </a:p>
          <a:p xmlns:a="http://schemas.openxmlformats.org/drawingml/2006/main">
            <a:r>
              <a:t>- C:\src\sorcery-tcg\crates\sorcery-engine\src\session.rs</a:t>
            </a:r>
          </a:p>
          <a:p xmlns:a="http://schemas.openxmlformats.org/drawingml/2006/main">
            <a:r>
              <a:t>- C:\src\sorcery-tcg\crates\sorcery-engine\src\checkpoint.rs</a:t>
            </a:r>
          </a:p>
          <a:p xmlns:a="http://schemas.openxmlformats.org/drawingml/2006/main">
            <a:r>
              <a:t>- C:\src\sorcery-tcg\AGENTS.md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transition and search diagnostics exercise the current implemented slice, not the final complete rules engine.</a:t>
            </a:r>
          </a:p>
          <a:p xmlns:a="http://schemas.openxmlformats.org/drawingml/2006/main">
            <a:r>
              <a:t>The replay comparison is encouraging, but the final report must use equivalent workloads and include median, p95, and peak memory.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provisional benchmark context in the active project thread, 2026-08-31</a:t>
            </a:r>
          </a:p>
          <a:p xmlns:a="http://schemas.openxmlformats.org/drawingml/2006/main">
            <a:r>
              <a:t>- C:\src\sorcery-tcg\crates\sorcery-engine\src\bin\engine-benchmark.rs</a:t>
            </a:r>
          </a:p>
          <a:p xmlns:a="http://schemas.openxmlformats.org/drawingml/2006/main">
            <a:r>
              <a:t>- C:\src\sorcery-tcg\AGENTS.md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owner's operating model, not an implementation checklist.</a:t>
            </a:r>
          </a:p>
          <a:p xmlns:a="http://schemas.openxmlformats.org/drawingml/2006/main">
            <a:r>
              <a:t>The invariant is durable: strategist choice is flexible; authority and evidence are stable.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C:\src\sorcery-tcg\AGENTS.md</a:t>
            </a:r>
          </a:p>
          <a:p xmlns:a="http://schemas.openxmlformats.org/drawingml/2006/main">
            <a:r>
              <a:t>- C:\src\sorcery-tcg\skills\sorcery-master\SKILL.md</a:t>
            </a:r>
          </a:p>
          <a:p xmlns:a="http://schemas.openxmlformats.org/drawingml/2006/main">
            <a:r>
              <a:t>- C:\src\sorcery-tcg\docs\external-reuse-policy.md</a:t>
            </a:r>
          </a:p>
          <a:p xmlns:a="http://schemas.openxmlformats.org/drawingml/2006/main">
            <a:r>
              <a:t>- User desired end-to-end workflow in the active project thread, 2026-08-31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8b08c442a84b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142b2a1c674490" /><Relationship Type="http://schemas.openxmlformats.org/officeDocument/2006/relationships/slideLayout" Target="/ppt/slideLayouts/slideLayout1.xml" Id="R387b276b4e0e49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7b276b4e0e49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10c2b129746af" /><Relationship Type="http://schemas.openxmlformats.org/officeDocument/2006/relationships/notesSlide" Target="/ppt/notesSlides/notesSlide1.xml" Id="R43317dc2ab0645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d367d7f93b41fb" /><Relationship Type="http://schemas.openxmlformats.org/officeDocument/2006/relationships/notesSlide" Target="/ppt/notesSlides/notesSlide2.xml" Id="R9baa0b15451c4a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13b16940845d2" /><Relationship Type="http://schemas.openxmlformats.org/officeDocument/2006/relationships/notesSlide" Target="/ppt/notesSlides/notesSlide3.xml" Id="R6807134f726643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6c1fc18a445ae" /><Relationship Type="http://schemas.openxmlformats.org/officeDocument/2006/relationships/notesSlide" Target="/ppt/notesSlides/notesSlide4.xml" Id="R0713cd01642d46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2a6fc5af541ac" /><Relationship Type="http://schemas.openxmlformats.org/officeDocument/2006/relationships/notesSlide" Target="/ppt/notesSlides/notesSlide5.xml" Id="R2ddc99920f664a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d499bb6bb4c69" /><Relationship Type="http://schemas.openxmlformats.org/officeDocument/2006/relationships/notesSlide" Target="/ppt/notesSlides/notesSlide6.xml" Id="R943806796a204f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afeb8fea54248" /><Relationship Type="http://schemas.openxmlformats.org/officeDocument/2006/relationships/notesSlide" Target="/ppt/notesSlides/notesSlide7.xml" Id="R6a0789f1fe0046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da532e31b4480" /><Relationship Type="http://schemas.openxmlformats.org/officeDocument/2006/relationships/notesSlide" Target="/ppt/notesSlides/notesSlide8.xml" Id="R5e55adcfb07444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7a812445a4f38" /><Relationship Type="http://schemas.openxmlformats.org/officeDocument/2006/relationships/notesSlide" Target="/ppt/notesSlides/notesSlide9.xml" Id="Raa599550f7e948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76e03dc174b60" /><Relationship Type="http://schemas.openxmlformats.org/officeDocument/2006/relationships/notesSlide" Target="/ppt/notesSlides/notesSlide10.xml" Id="R403145026f58429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654b2c8104287" /><Relationship Type="http://schemas.openxmlformats.org/officeDocument/2006/relationships/notesSlide" Target="/ppt/notesSlides/notesSlide11.xml" Id="R051e0b42bec449b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5c522b93645d3" /><Relationship Type="http://schemas.openxmlformats.org/officeDocument/2006/relationships/notesSlide" Target="/ppt/notesSlides/notesSlide12.xml" Id="R9d8fe84170e94b3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b0ae87d9e4b89" /><Relationship Type="http://schemas.openxmlformats.org/officeDocument/2006/relationships/notesSlide" Target="/ppt/notesSlides/notesSlide13.xml" Id="R740b3e0465f0469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42da3d6dc4c8a" /><Relationship Type="http://schemas.openxmlformats.org/officeDocument/2006/relationships/notesSlide" Target="/ppt/notesSlides/notesSlide14.xml" Id="R2059fe4239224a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accent-field">
            <a:extLst xmlns:a="http://schemas.openxmlformats.org/drawingml/2006/main">
              <a:ext uri="{FF2B5EF4-FFF2-40B4-BE49-F238E27FC236}">
                <a16:creationId xmlns:a16="http://schemas.microsoft.com/office/drawing/2014/main" id="{DF7F5511-586D-4FBB-A769-20EBCBD3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0"/>
            <a:ext cx="4114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strong-rule">
            <a:extLst xmlns:a="http://schemas.openxmlformats.org/drawingml/2006/main">
              <a:ext uri="{FF2B5EF4-FFF2-40B4-BE49-F238E27FC236}">
                <a16:creationId xmlns:a16="http://schemas.microsoft.com/office/drawing/2014/main" id="{49F87319-F0DB-4E6F-BD62-9C6E8F5A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E4007C90-0693-456F-B20F-3E33C5F9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B6470"/>
                </a:solidFill>
              </a:defRPr>
            </a:pPr>
            <a:r>
              <a:rPr sz="1350" b="1">
                <a:solidFill>
                  <a:srgbClr val="5B6470"/>
                </a:solidFill>
              </a:rPr>
              <a:t>SORCERY SIMULATOR • ENGINE ARCHITECTURE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740ADCF-EF40-4980-9AC5-6B7EBBF3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47850"/>
            <a:ext cx="685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00000"/>
                </a:solidFill>
              </a:defRPr>
            </a:pPr>
            <a:r>
              <a:rPr sz="5100" b="1">
                <a:solidFill>
                  <a:srgbClr val="000000"/>
                </a:solidFill>
              </a:rPr>
              <a:t>A deterministic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000000"/>
                </a:solidFill>
              </a:defRPr>
            </a:pPr>
            <a:r>
              <a:rPr sz="5100" b="1">
                <a:solidFill>
                  <a:srgbClr val="000000"/>
                </a:solidFill>
              </a:rPr>
              <a:t>referee for Sorcery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C48E007-10CC-46B1-86F6-1157F003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657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6191E"/>
                </a:solidFill>
              </a:defRPr>
            </a:pPr>
            <a:r>
              <a:rPr sz="1950" b="0">
                <a:solidFill>
                  <a:srgbClr val="16191E"/>
                </a:solidFill>
              </a:rPr>
              <a:t>Rust decides what is legal. Replaceable LLMs decide what to try.</a:t>
            </a:r>
          </a:p>
        </p:txBody>
      </p:sp>
      <p:sp>
        <p:nvSpPr>
          <p:cNvPr id="6" name="cover-side-one">
            <a:extLst xmlns:a="http://schemas.openxmlformats.org/drawingml/2006/main">
              <a:ext uri="{FF2B5EF4-FFF2-40B4-BE49-F238E27FC236}">
                <a16:creationId xmlns:a16="http://schemas.microsoft.com/office/drawing/2014/main" id="{CDCF821D-5C25-4B2C-9C4D-0267D16E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002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AUTHORITATIVE</a:t>
            </a:r>
          </a:p>
        </p:txBody>
      </p:sp>
      <p:sp>
        <p:nvSpPr>
          <p:cNvPr id="7" name="cover-side-two">
            <a:extLst xmlns:a="http://schemas.openxmlformats.org/drawingml/2006/main">
              <a:ext uri="{FF2B5EF4-FFF2-40B4-BE49-F238E27FC236}">
                <a16:creationId xmlns:a16="http://schemas.microsoft.com/office/drawing/2014/main" id="{D93D4E7C-E539-477A-B8E1-EC8A7206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00300"/>
            <a:ext cx="2667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Deterministic state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Legal actions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Replay proofs</a:t>
            </a:r>
          </a:p>
        </p:txBody>
      </p:sp>
      <p:sp>
        <p:nvSpPr>
          <p:cNvPr id="8" name="cover-date">
            <a:extLst xmlns:a="http://schemas.openxmlformats.org/drawingml/2006/main">
              <a:ext uri="{FF2B5EF4-FFF2-40B4-BE49-F238E27FC236}">
                <a16:creationId xmlns:a16="http://schemas.microsoft.com/office/drawing/2014/main" id="{02066173-60CA-4F69-B432-E72BF601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0"/>
                </a:solidFill>
              </a:defRPr>
            </a:pPr>
            <a:r>
              <a:rPr sz="1200" b="0">
                <a:solidFill>
                  <a:srgbClr val="5B6470"/>
                </a:solidFill>
              </a:rPr>
              <a:t>Architecture direction • 31 Aug 2026</a:t>
            </a:r>
          </a:p>
        </p:txBody>
      </p:sp>
    </p:spTree>
    <p:extLst>
      <p:ext uri="{BB962C8B-B14F-4D97-AF65-F5344CB8AC3E}">
        <p14:creationId xmlns:p14="http://schemas.microsoft.com/office/powerpoint/2010/main" val="20908989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2">
            <a:extLst xmlns:a="http://schemas.openxmlformats.org/drawingml/2006/main">
              <a:ext uri="{FF2B5EF4-FFF2-40B4-BE49-F238E27FC236}">
                <a16:creationId xmlns:a16="http://schemas.microsoft.com/office/drawing/2014/main" id="{26196FD7-4A29-427B-A5AF-6EF6B41E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0"/>
                </a:solidFill>
              </a:defRPr>
            </a:pPr>
            <a:r>
              <a:rPr sz="1200" b="1">
                <a:solidFill>
                  <a:srgbClr val="5B6470"/>
                </a:solidFill>
              </a:rPr>
              <a:t>SORCERY SIMULATOR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9165B3E4-4AE6-4E7C-A44B-2E282D56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114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product separates truth from strategy</a:t>
            </a:r>
          </a:p>
        </p:txBody>
      </p:sp>
      <p:sp>
        <p:nvSpPr>
          <p:cNvPr id="3" name="rule-48-666">
            <a:extLst xmlns:a="http://schemas.openxmlformats.org/drawingml/2006/main">
              <a:ext uri="{FF2B5EF4-FFF2-40B4-BE49-F238E27FC236}">
                <a16:creationId xmlns:a16="http://schemas.microsoft.com/office/drawing/2014/main" id="{B323AC1D-667E-47AA-9637-7F5BACA4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635027E0-92FA-403C-B92C-8AF95F02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0"/>
                </a:solidFill>
              </a:defRPr>
            </a:pPr>
            <a:r>
              <a:rPr sz="1050" b="0">
                <a:solidFill>
                  <a:srgbClr val="5B6470"/>
                </a:solidFill>
              </a:rPr>
              <a:t>02</a:t>
            </a:r>
          </a:p>
        </p:txBody>
      </p:sp>
      <p:sp>
        <p:nvSpPr>
          <p:cNvPr id="5" name="product-thesis">
            <a:extLst xmlns:a="http://schemas.openxmlformats.org/drawingml/2006/main">
              <a:ext uri="{FF2B5EF4-FFF2-40B4-BE49-F238E27FC236}">
                <a16:creationId xmlns:a16="http://schemas.microsoft.com/office/drawing/2014/main" id="{76E07E6C-0CE5-4599-9E70-CC6083AB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A fast, reproducible game laboratory—not a chatbot that invents rules.</a:t>
            </a:r>
          </a:p>
        </p:txBody>
      </p:sp>
      <p:sp>
        <p:nvSpPr>
          <p:cNvPr id="6" name="rule-52-354">
            <a:extLst xmlns:a="http://schemas.openxmlformats.org/drawingml/2006/main">
              <a:ext uri="{FF2B5EF4-FFF2-40B4-BE49-F238E27FC236}">
                <a16:creationId xmlns:a16="http://schemas.microsoft.com/office/drawing/2014/main" id="{C01D395F-ED60-4504-8B5C-3B427F74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71850"/>
            <a:ext cx="504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mise-one-panel">
            <a:extLst xmlns:a="http://schemas.openxmlformats.org/drawingml/2006/main">
              <a:ext uri="{FF2B5EF4-FFF2-40B4-BE49-F238E27FC236}">
                <a16:creationId xmlns:a16="http://schemas.microsoft.com/office/drawing/2014/main" id="{2EC13821-6DB5-4ADB-A36B-E382F325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5238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mise-one-heading">
            <a:extLst xmlns:a="http://schemas.openxmlformats.org/drawingml/2006/main">
              <a:ext uri="{FF2B5EF4-FFF2-40B4-BE49-F238E27FC236}">
                <a16:creationId xmlns:a16="http://schemas.microsoft.com/office/drawing/2014/main" id="{F44628F3-2636-4C4F-9457-5B5678F5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76400"/>
            <a:ext cx="478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One source of legality</a:t>
            </a:r>
          </a:p>
        </p:txBody>
      </p:sp>
      <p:sp>
        <p:nvSpPr>
          <p:cNvPr id="9" name="promise-one-body">
            <a:extLst xmlns:a="http://schemas.openxmlformats.org/drawingml/2006/main">
              <a:ext uri="{FF2B5EF4-FFF2-40B4-BE49-F238E27FC236}">
                <a16:creationId xmlns:a16="http://schemas.microsoft.com/office/drawing/2014/main" id="{3C102E74-7247-4F91-AB2E-731522C4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33600"/>
            <a:ext cx="478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6191E"/>
                </a:solidFill>
              </a:defRPr>
            </a:pPr>
            <a:r>
              <a:rPr sz="1425" b="0">
                <a:solidFill>
                  <a:srgbClr val="16191E"/>
                </a:solidFill>
              </a:rPr>
              <a:t>The engine issues typed actions; every caller chooses from that list.</a:t>
            </a:r>
          </a:p>
        </p:txBody>
      </p:sp>
      <p:sp>
        <p:nvSpPr>
          <p:cNvPr id="10" name="promise-two-panel">
            <a:extLst xmlns:a="http://schemas.openxmlformats.org/drawingml/2006/main">
              <a:ext uri="{FF2B5EF4-FFF2-40B4-BE49-F238E27FC236}">
                <a16:creationId xmlns:a16="http://schemas.microsoft.com/office/drawing/2014/main" id="{204AF10B-692D-414E-9B4E-F8D6C75B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95600"/>
            <a:ext cx="5238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omise-two-heading">
            <a:extLst xmlns:a="http://schemas.openxmlformats.org/drawingml/2006/main">
              <a:ext uri="{FF2B5EF4-FFF2-40B4-BE49-F238E27FC236}">
                <a16:creationId xmlns:a16="http://schemas.microsoft.com/office/drawing/2014/main" id="{F2CDD10C-3153-4BDB-ADC9-93901BDE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05150"/>
            <a:ext cx="478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One reproducible history</a:t>
            </a:r>
          </a:p>
        </p:txBody>
      </p:sp>
      <p:sp>
        <p:nvSpPr>
          <p:cNvPr id="12" name="promise-two-body">
            <a:extLst xmlns:a="http://schemas.openxmlformats.org/drawingml/2006/main">
              <a:ext uri="{FF2B5EF4-FFF2-40B4-BE49-F238E27FC236}">
                <a16:creationId xmlns:a16="http://schemas.microsoft.com/office/drawing/2014/main" id="{9AAEB138-C77F-40CE-9F34-55964FD2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478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6191E"/>
                </a:solidFill>
              </a:defRPr>
            </a:pPr>
            <a:r>
              <a:rPr sz="1425" b="0">
                <a:solidFill>
                  <a:srgbClr val="16191E"/>
                </a:solidFill>
              </a:rPr>
              <a:t>Manifest + seed + action IDs regenerate the same authoritative events.</a:t>
            </a:r>
          </a:p>
        </p:txBody>
      </p:sp>
      <p:sp>
        <p:nvSpPr>
          <p:cNvPr id="13" name="promise-three-panel">
            <a:extLst xmlns:a="http://schemas.openxmlformats.org/drawingml/2006/main">
              <a:ext uri="{FF2B5EF4-FFF2-40B4-BE49-F238E27FC236}">
                <a16:creationId xmlns:a16="http://schemas.microsoft.com/office/drawing/2014/main" id="{CB39154F-AA45-468A-A0F5-D59C08AE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24350"/>
            <a:ext cx="5238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omise-three-heading">
            <a:extLst xmlns:a="http://schemas.openxmlformats.org/drawingml/2006/main">
              <a:ext uri="{FF2B5EF4-FFF2-40B4-BE49-F238E27FC236}">
                <a16:creationId xmlns:a16="http://schemas.microsoft.com/office/drawing/2014/main" id="{B04EC804-5C5B-4D76-B607-D1A35763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33900"/>
            <a:ext cx="478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Many possible strategists</a:t>
            </a:r>
          </a:p>
        </p:txBody>
      </p:sp>
      <p:sp>
        <p:nvSpPr>
          <p:cNvPr id="15" name="promise-three-body">
            <a:extLst xmlns:a="http://schemas.openxmlformats.org/drawingml/2006/main">
              <a:ext uri="{FF2B5EF4-FFF2-40B4-BE49-F238E27FC236}">
                <a16:creationId xmlns:a16="http://schemas.microsoft.com/office/drawing/2014/main" id="{79D9A825-73AF-44ED-BAE6-917A51F7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91100"/>
            <a:ext cx="478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6191E"/>
                </a:solidFill>
              </a:defRPr>
            </a:pPr>
            <a:r>
              <a:rPr sz="1425" b="0">
                <a:solidFill>
                  <a:srgbClr val="16191E"/>
                </a:solidFill>
              </a:rPr>
              <a:t>LLMs, heuristics, search policies, and humans can compete without changing the rules.</a:t>
            </a:r>
          </a:p>
        </p:txBody>
      </p:sp>
      <p:sp>
        <p:nvSpPr>
          <p:cNvPr id="16" name="product-scope-note">
            <a:extLst xmlns:a="http://schemas.openxmlformats.org/drawingml/2006/main">
              <a:ext uri="{FF2B5EF4-FFF2-40B4-BE49-F238E27FC236}">
                <a16:creationId xmlns:a16="http://schemas.microsoft.com/office/drawing/2014/main" id="{F624D6F3-82F4-4CDA-A70A-7EEF686A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386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B6470"/>
                </a:solidFill>
              </a:defRPr>
            </a:pPr>
            <a:r>
              <a:rPr sz="1725" b="0">
                <a:solidFill>
                  <a:srgbClr val="5B6470"/>
                </a:solidFill>
              </a:rPr>
              <a:t>Current priority: nail simulation and deck construction. UI polish can wait.</a:t>
            </a:r>
          </a:p>
        </p:txBody>
      </p:sp>
    </p:spTree>
    <p:extLst>
      <p:ext uri="{BB962C8B-B14F-4D97-AF65-F5344CB8AC3E}">
        <p14:creationId xmlns:p14="http://schemas.microsoft.com/office/powerpoint/2010/main" val="14402654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3">
            <a:extLst xmlns:a="http://schemas.openxmlformats.org/drawingml/2006/main">
              <a:ext uri="{FF2B5EF4-FFF2-40B4-BE49-F238E27FC236}">
                <a16:creationId xmlns:a16="http://schemas.microsoft.com/office/drawing/2014/main" id="{7EF715F5-4760-4164-BE1A-B76BA3D3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0"/>
                </a:solidFill>
              </a:defRPr>
            </a:pPr>
            <a:r>
              <a:rPr sz="1200" b="1">
                <a:solidFill>
                  <a:srgbClr val="5B6470"/>
                </a:solidFill>
              </a:rPr>
              <a:t>SORCERY SIMULATOR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DE55702D-8951-414F-B029-314B8F27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114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One authority, many replaceable strategists</a:t>
            </a:r>
          </a:p>
        </p:txBody>
      </p:sp>
      <p:sp>
        <p:nvSpPr>
          <p:cNvPr id="3" name="rule-48-666">
            <a:extLst xmlns:a="http://schemas.openxmlformats.org/drawingml/2006/main">
              <a:ext uri="{FF2B5EF4-FFF2-40B4-BE49-F238E27FC236}">
                <a16:creationId xmlns:a16="http://schemas.microsoft.com/office/drawing/2014/main" id="{73FB3542-F821-4031-9CB5-D735010E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19FC5ACD-B1FA-4125-A53D-69111822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0"/>
                </a:solidFill>
              </a:defRPr>
            </a:pPr>
            <a:r>
              <a:rPr sz="1050" b="0">
                <a:solidFill>
                  <a:srgbClr val="5B6470"/>
                </a:solidFill>
              </a:rPr>
              <a:t>03</a:t>
            </a:r>
          </a:p>
        </p:txBody>
      </p:sp>
      <p:sp>
        <p:nvSpPr>
          <p:cNvPr id="5" name="arch-arrow-1">
            <a:extLst xmlns:a="http://schemas.openxmlformats.org/drawingml/2006/main">
              <a:ext uri="{FF2B5EF4-FFF2-40B4-BE49-F238E27FC236}">
                <a16:creationId xmlns:a16="http://schemas.microsoft.com/office/drawing/2014/main" id="{385E167B-CDEB-40DA-A31E-965E13B1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00300"/>
            <a:ext cx="4000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ch-arrow-2">
            <a:extLst xmlns:a="http://schemas.openxmlformats.org/drawingml/2006/main">
              <a:ext uri="{FF2B5EF4-FFF2-40B4-BE49-F238E27FC236}">
                <a16:creationId xmlns:a16="http://schemas.microsoft.com/office/drawing/2014/main" id="{1B02F87E-F43A-4B3F-A4D9-923ACC39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00300"/>
            <a:ext cx="4000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ch-arrow-3">
            <a:extLst xmlns:a="http://schemas.openxmlformats.org/drawingml/2006/main">
              <a:ext uri="{FF2B5EF4-FFF2-40B4-BE49-F238E27FC236}">
                <a16:creationId xmlns:a16="http://schemas.microsoft.com/office/drawing/2014/main" id="{0EDEB0ED-3C70-40A6-BF7A-20F27205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00300"/>
            <a:ext cx="4000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ch-arrow-4">
            <a:extLst xmlns:a="http://schemas.openxmlformats.org/drawingml/2006/main">
              <a:ext uri="{FF2B5EF4-FFF2-40B4-BE49-F238E27FC236}">
                <a16:creationId xmlns:a16="http://schemas.microsoft.com/office/drawing/2014/main" id="{FA0ED04A-3F59-427C-9EEF-D3A1A349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00300"/>
            <a:ext cx="4000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rch-arrow-llm">
            <a:extLst xmlns:a="http://schemas.openxmlformats.org/drawingml/2006/main">
              <a:ext uri="{FF2B5EF4-FFF2-40B4-BE49-F238E27FC236}">
                <a16:creationId xmlns:a16="http://schemas.microsoft.com/office/drawing/2014/main" id="{124E1F41-448A-4034-86C8-B94CD3E7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724400"/>
            <a:ext cx="666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rch-arrow-mcp">
            <a:extLst xmlns:a="http://schemas.openxmlformats.org/drawingml/2006/main">
              <a:ext uri="{FF2B5EF4-FFF2-40B4-BE49-F238E27FC236}">
                <a16:creationId xmlns:a16="http://schemas.microsoft.com/office/drawing/2014/main" id="{45E6BEBF-BE6D-4782-B6C7-8B282A13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24400"/>
            <a:ext cx="666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rch-source">
            <a:extLst xmlns:a="http://schemas.openxmlformats.org/drawingml/2006/main">
              <a:ext uri="{FF2B5EF4-FFF2-40B4-BE49-F238E27FC236}">
                <a16:creationId xmlns:a16="http://schemas.microsoft.com/office/drawing/2014/main" id="{6E3E80BF-5395-441A-883C-03871063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1809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Manifest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+ seed</a:t>
            </a:r>
          </a:p>
        </p:txBody>
      </p:sp>
      <p:sp>
        <p:nvSpPr>
          <p:cNvPr id="12" name="arch-rules">
            <a:extLst xmlns:a="http://schemas.openxmlformats.org/drawingml/2006/main">
              <a:ext uri="{FF2B5EF4-FFF2-40B4-BE49-F238E27FC236}">
                <a16:creationId xmlns:a16="http://schemas.microsoft.com/office/drawing/2014/main" id="{86A21704-B0AC-4940-9240-A0942AA8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00250"/>
            <a:ext cx="18859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Shared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RulesContext</a:t>
            </a:r>
          </a:p>
        </p:txBody>
      </p:sp>
      <p:sp>
        <p:nvSpPr>
          <p:cNvPr id="13" name="arch-engine">
            <a:extLst xmlns:a="http://schemas.openxmlformats.org/drawingml/2006/main">
              <a:ext uri="{FF2B5EF4-FFF2-40B4-BE49-F238E27FC236}">
                <a16:creationId xmlns:a16="http://schemas.microsoft.com/office/drawing/2014/main" id="{8C723759-58F2-466B-AFAA-AB5B3F4F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85950"/>
            <a:ext cx="18859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Rust referee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state • actions • transitions</a:t>
            </a:r>
          </a:p>
        </p:txBody>
      </p:sp>
      <p:sp>
        <p:nvSpPr>
          <p:cNvPr id="14" name="arch-search">
            <a:extLst xmlns:a="http://schemas.openxmlformats.org/drawingml/2006/main">
              <a:ext uri="{FF2B5EF4-FFF2-40B4-BE49-F238E27FC236}">
                <a16:creationId xmlns:a16="http://schemas.microsoft.com/office/drawing/2014/main" id="{10C4B8C0-B808-4A70-BFB8-7184760A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18859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Batch + search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checkpoint branches</a:t>
            </a:r>
          </a:p>
        </p:txBody>
      </p:sp>
      <p:sp>
        <p:nvSpPr>
          <p:cNvPr id="15" name="arch-replay">
            <a:extLst xmlns:a="http://schemas.openxmlformats.org/drawingml/2006/main">
              <a:ext uri="{FF2B5EF4-FFF2-40B4-BE49-F238E27FC236}">
                <a16:creationId xmlns:a16="http://schemas.microsoft.com/office/drawing/2014/main" id="{3287A2F9-78E1-4132-9CEA-0413235D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00250"/>
            <a:ext cx="18859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Receipts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replays • journals</a:t>
            </a:r>
          </a:p>
        </p:txBody>
      </p:sp>
      <p:sp>
        <p:nvSpPr>
          <p:cNvPr id="16" name="arch-planned-label">
            <a:extLst xmlns:a="http://schemas.openxmlformats.org/drawingml/2006/main">
              <a:ext uri="{FF2B5EF4-FFF2-40B4-BE49-F238E27FC236}">
                <a16:creationId xmlns:a16="http://schemas.microsoft.com/office/drawing/2014/main" id="{CA9F9B71-B9D8-4BF4-9AA8-6A525F01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PLANNED STRATEGY ACCESS</a:t>
            </a:r>
          </a:p>
        </p:txBody>
      </p:sp>
      <p:sp>
        <p:nvSpPr>
          <p:cNvPr id="17" name="arch-llm">
            <a:extLst xmlns:a="http://schemas.openxmlformats.org/drawingml/2006/main">
              <a:ext uri="{FF2B5EF4-FFF2-40B4-BE49-F238E27FC236}">
                <a16:creationId xmlns:a16="http://schemas.microsoft.com/office/drawing/2014/main" id="{206E6781-B636-4855-B98A-C41E2F4B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438650"/>
            <a:ext cx="1971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Any LLM or policy</a:t>
            </a:r>
          </a:p>
        </p:txBody>
      </p:sp>
      <p:sp>
        <p:nvSpPr>
          <p:cNvPr id="18" name="arch-mcp">
            <a:extLst xmlns:a="http://schemas.openxmlformats.org/drawingml/2006/main">
              <a:ext uri="{FF2B5EF4-FFF2-40B4-BE49-F238E27FC236}">
                <a16:creationId xmlns:a16="http://schemas.microsoft.com/office/drawing/2014/main" id="{1AFFC97F-E3DD-43F3-909B-7F11C87F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438650"/>
            <a:ext cx="22574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MCP façade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coarse tools</a:t>
            </a:r>
          </a:p>
        </p:txBody>
      </p:sp>
      <p:sp>
        <p:nvSpPr>
          <p:cNvPr id="19" name="arch-action">
            <a:extLst xmlns:a="http://schemas.openxmlformats.org/drawingml/2006/main">
              <a:ext uri="{FF2B5EF4-FFF2-40B4-BE49-F238E27FC236}">
                <a16:creationId xmlns:a16="http://schemas.microsoft.com/office/drawing/2014/main" id="{F1FE7BC3-ABA4-476F-87C3-3F83FC12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38650"/>
            <a:ext cx="22574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Engine-issued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actions only</a:t>
            </a:r>
          </a:p>
        </p:txBody>
      </p:sp>
      <p:sp>
        <p:nvSpPr>
          <p:cNvPr id="20" name="arch-caption">
            <a:extLst xmlns:a="http://schemas.openxmlformats.org/drawingml/2006/main">
              <a:ext uri="{FF2B5EF4-FFF2-40B4-BE49-F238E27FC236}">
                <a16:creationId xmlns:a16="http://schemas.microsoft.com/office/drawing/2014/main" id="{65B406D2-AE04-4E7E-99AA-A06CC992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448300"/>
            <a:ext cx="7829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5B6470"/>
                </a:solidFill>
              </a:defRPr>
            </a:pPr>
            <a:r>
              <a:rPr sz="1575" b="0">
                <a:solidFill>
                  <a:srgbClr val="5B6470"/>
                </a:solidFill>
              </a:rPr>
              <a:t>The strategist can ask questions and choose actions. It cannot mutate state or define legality.</a:t>
            </a:r>
          </a:p>
        </p:txBody>
      </p:sp>
    </p:spTree>
    <p:extLst>
      <p:ext uri="{BB962C8B-B14F-4D97-AF65-F5344CB8AC3E}">
        <p14:creationId xmlns:p14="http://schemas.microsoft.com/office/powerpoint/2010/main" val="18356271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-4">
            <a:extLst xmlns:a="http://schemas.openxmlformats.org/drawingml/2006/main">
              <a:ext uri="{FF2B5EF4-FFF2-40B4-BE49-F238E27FC236}">
                <a16:creationId xmlns:a16="http://schemas.microsoft.com/office/drawing/2014/main" id="{BB45EDCE-8D0B-4ABE-9030-C08BD72B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0"/>
                </a:solidFill>
              </a:defRPr>
            </a:pPr>
            <a:r>
              <a:rPr sz="1200" b="1">
                <a:solidFill>
                  <a:srgbClr val="5B6470"/>
                </a:solidFill>
              </a:rPr>
              <a:t>SORCERY SIMULATOR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CB45A02C-173D-4445-90FF-C64E835B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114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Rust owns every rule-bearing decision</a:t>
            </a:r>
          </a:p>
        </p:txBody>
      </p:sp>
      <p:sp>
        <p:nvSpPr>
          <p:cNvPr id="3" name="rule-48-666">
            <a:extLst xmlns:a="http://schemas.openxmlformats.org/drawingml/2006/main">
              <a:ext uri="{FF2B5EF4-FFF2-40B4-BE49-F238E27FC236}">
                <a16:creationId xmlns:a16="http://schemas.microsoft.com/office/drawing/2014/main" id="{5CA53695-5E66-4D85-B08E-ACE80BD8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249D59C0-9753-4089-A06F-1A4DA2DD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0"/>
                </a:solidFill>
              </a:defRPr>
            </a:pPr>
            <a:r>
              <a:rPr sz="1050" b="0">
                <a:solidFill>
                  <a:srgbClr val="5B6470"/>
                </a:solidFill>
              </a:rPr>
              <a:t>04</a:t>
            </a:r>
          </a:p>
        </p:txBody>
      </p:sp>
      <p:sp>
        <p:nvSpPr>
          <p:cNvPr id="5" name="rust-field">
            <a:extLst xmlns:a="http://schemas.openxmlformats.org/drawingml/2006/main">
              <a:ext uri="{FF2B5EF4-FFF2-40B4-BE49-F238E27FC236}">
                <a16:creationId xmlns:a16="http://schemas.microsoft.com/office/drawing/2014/main" id="{A784DE8B-59C6-49B7-B369-AF272FB5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689610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6" name="ts-field">
            <a:extLst xmlns:a="http://schemas.openxmlformats.org/drawingml/2006/main">
              <a:ext uri="{FF2B5EF4-FFF2-40B4-BE49-F238E27FC236}">
                <a16:creationId xmlns:a16="http://schemas.microsoft.com/office/drawing/2014/main" id="{DF52BBB6-4E20-4750-9D67-1AC2659D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466850"/>
            <a:ext cx="392430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rust-heading">
            <a:extLst xmlns:a="http://schemas.openxmlformats.org/drawingml/2006/main">
              <a:ext uri="{FF2B5EF4-FFF2-40B4-BE49-F238E27FC236}">
                <a16:creationId xmlns:a16="http://schemas.microsoft.com/office/drawing/2014/main" id="{6FB783D3-6874-4540-AE9A-B873E70A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RUST • AUTHORITATIVE</a:t>
            </a:r>
          </a:p>
        </p:txBody>
      </p:sp>
      <p:sp>
        <p:nvSpPr>
          <p:cNvPr id="8" name="rust-list">
            <a:extLst xmlns:a="http://schemas.openxmlformats.org/drawingml/2006/main">
              <a:ext uri="{FF2B5EF4-FFF2-40B4-BE49-F238E27FC236}">
                <a16:creationId xmlns:a16="http://schemas.microsoft.com/office/drawing/2014/main" id="{4CBBA5D4-D352-40A6-9FD6-CF37E57A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590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State + compact positions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Legal-action enumeration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Transitions + unsupported-mechanic failure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Deterministic PRNG + checkpoints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Batch simulation + search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Final replay, hashes, receipts, journals</a:t>
            </a:r>
          </a:p>
        </p:txBody>
      </p:sp>
      <p:sp>
        <p:nvSpPr>
          <p:cNvPr id="9" name="ts-heading">
            <a:extLst xmlns:a="http://schemas.openxmlformats.org/drawingml/2006/main">
              <a:ext uri="{FF2B5EF4-FFF2-40B4-BE49-F238E27FC236}">
                <a16:creationId xmlns:a16="http://schemas.microsoft.com/office/drawing/2014/main" id="{6FBE947E-8985-4212-8FDA-5FC12690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52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B6470"/>
                </a:solidFill>
              </a:defRPr>
            </a:pPr>
            <a:r>
              <a:rPr sz="1800" b="1">
                <a:solidFill>
                  <a:srgbClr val="5B6470"/>
                </a:solidFill>
              </a:rPr>
              <a:t>THIN BOUNDARY</a:t>
            </a:r>
          </a:p>
        </p:txBody>
      </p:sp>
      <p:sp>
        <p:nvSpPr>
          <p:cNvPr id="10" name="ts-list">
            <a:extLst xmlns:a="http://schemas.openxmlformats.org/drawingml/2006/main">
              <a:ext uri="{FF2B5EF4-FFF2-40B4-BE49-F238E27FC236}">
                <a16:creationId xmlns:a16="http://schemas.microsoft.com/office/drawing/2014/main" id="{846656E0-D828-4D4E-8B4B-6F013223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24100"/>
            <a:ext cx="314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Authority ingestion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Server transport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Browser UI when useful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Lawful deck + price adapters</a:t>
            </a:r>
          </a:p>
        </p:txBody>
      </p:sp>
      <p:sp>
        <p:nvSpPr>
          <p:cNvPr id="11" name="ts-note">
            <a:extLst xmlns:a="http://schemas.openxmlformats.org/drawingml/2006/main">
              <a:ext uri="{FF2B5EF4-FFF2-40B4-BE49-F238E27FC236}">
                <a16:creationId xmlns:a16="http://schemas.microsoft.com/office/drawing/2014/main" id="{3AC2B340-7500-4CB7-8C0D-5B6F2A98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625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No permanent second legality engine.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No unrelated UI rewrite.</a:t>
            </a:r>
          </a:p>
        </p:txBody>
      </p:sp>
    </p:spTree>
    <p:extLst>
      <p:ext uri="{BB962C8B-B14F-4D97-AF65-F5344CB8AC3E}">
        <p14:creationId xmlns:p14="http://schemas.microsoft.com/office/powerpoint/2010/main" val="14375351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5">
            <a:extLst xmlns:a="http://schemas.openxmlformats.org/drawingml/2006/main">
              <a:ext uri="{FF2B5EF4-FFF2-40B4-BE49-F238E27FC236}">
                <a16:creationId xmlns:a16="http://schemas.microsoft.com/office/drawing/2014/main" id="{49C416B4-DD13-4327-8D1C-3E63F9F7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0"/>
                </a:solidFill>
              </a:defRPr>
            </a:pPr>
            <a:r>
              <a:rPr sz="1200" b="1">
                <a:solidFill>
                  <a:srgbClr val="5B6470"/>
                </a:solidFill>
              </a:rPr>
              <a:t>SORCERY SIMULATOR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41884B35-6CB6-48FE-BB24-527EA46E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114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Every move is issued, checked, and receipted</a:t>
            </a:r>
          </a:p>
        </p:txBody>
      </p:sp>
      <p:sp>
        <p:nvSpPr>
          <p:cNvPr id="3" name="rule-48-666">
            <a:extLst xmlns:a="http://schemas.openxmlformats.org/drawingml/2006/main">
              <a:ext uri="{FF2B5EF4-FFF2-40B4-BE49-F238E27FC236}">
                <a16:creationId xmlns:a16="http://schemas.microsoft.com/office/drawing/2014/main" id="{0B811030-C78D-475C-9305-76C6811E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57D307A0-E2CB-4FC2-B46D-376C3548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0"/>
                </a:solidFill>
              </a:defRPr>
            </a:pPr>
            <a:r>
              <a:rPr sz="1050" b="0">
                <a:solidFill>
                  <a:srgbClr val="5B6470"/>
                </a:solidFill>
              </a:rPr>
              <a:t>05</a:t>
            </a:r>
          </a:p>
        </p:txBody>
      </p:sp>
      <p:sp>
        <p:nvSpPr>
          <p:cNvPr id="5" name="loop-a1">
            <a:extLst xmlns:a="http://schemas.openxmlformats.org/drawingml/2006/main">
              <a:ext uri="{FF2B5EF4-FFF2-40B4-BE49-F238E27FC236}">
                <a16:creationId xmlns:a16="http://schemas.microsoft.com/office/drawing/2014/main" id="{E591C794-80A9-4922-918E-EA287A26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28900"/>
            <a:ext cx="552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oop-a2">
            <a:extLst xmlns:a="http://schemas.openxmlformats.org/drawingml/2006/main">
              <a:ext uri="{FF2B5EF4-FFF2-40B4-BE49-F238E27FC236}">
                <a16:creationId xmlns:a16="http://schemas.microsoft.com/office/drawing/2014/main" id="{6386EE27-BA23-47A3-8D4D-3BED9669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28900"/>
            <a:ext cx="552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oop-a3">
            <a:extLst xmlns:a="http://schemas.openxmlformats.org/drawingml/2006/main">
              <a:ext uri="{FF2B5EF4-FFF2-40B4-BE49-F238E27FC236}">
                <a16:creationId xmlns:a16="http://schemas.microsoft.com/office/drawing/2014/main" id="{E1138A97-67C8-463D-B15E-A8D4C69E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28900"/>
            <a:ext cx="552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oop-n1">
            <a:extLst xmlns:a="http://schemas.openxmlformats.org/drawingml/2006/main">
              <a:ext uri="{FF2B5EF4-FFF2-40B4-BE49-F238E27FC236}">
                <a16:creationId xmlns:a16="http://schemas.microsoft.com/office/drawing/2014/main" id="{C03D240E-3277-4637-8291-8AA34816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21145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1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Enumerate legal actions</a:t>
            </a:r>
          </a:p>
        </p:txBody>
      </p:sp>
      <p:sp>
        <p:nvSpPr>
          <p:cNvPr id="9" name="loop-n2">
            <a:extLst xmlns:a="http://schemas.openxmlformats.org/drawingml/2006/main">
              <a:ext uri="{FF2B5EF4-FFF2-40B4-BE49-F238E27FC236}">
                <a16:creationId xmlns:a16="http://schemas.microsoft.com/office/drawing/2014/main" id="{6AADF598-CF14-40FE-8953-67ADA80B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57400"/>
            <a:ext cx="22479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2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Choose one action ID</a:t>
            </a:r>
          </a:p>
        </p:txBody>
      </p:sp>
      <p:sp>
        <p:nvSpPr>
          <p:cNvPr id="10" name="loop-n3">
            <a:extLst xmlns:a="http://schemas.openxmlformats.org/drawingml/2006/main">
              <a:ext uri="{FF2B5EF4-FFF2-40B4-BE49-F238E27FC236}">
                <a16:creationId xmlns:a16="http://schemas.microsoft.com/office/drawing/2014/main" id="{FF6A07D5-5FEE-4CD0-BE1C-DB96109A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57400"/>
            <a:ext cx="22479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3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Revalidate + transition</a:t>
            </a:r>
          </a:p>
        </p:txBody>
      </p:sp>
      <p:sp>
        <p:nvSpPr>
          <p:cNvPr id="11" name="loop-n4">
            <a:extLst xmlns:a="http://schemas.openxmlformats.org/drawingml/2006/main">
              <a:ext uri="{FF2B5EF4-FFF2-40B4-BE49-F238E27FC236}">
                <a16:creationId xmlns:a16="http://schemas.microsoft.com/office/drawing/2014/main" id="{BC929D78-35DE-4737-AE53-160F11F0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57400"/>
            <a:ext cx="26860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4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Emit ordered events + receipt</a:t>
            </a:r>
          </a:p>
        </p:txBody>
      </p:sp>
      <p:sp>
        <p:nvSpPr>
          <p:cNvPr id="12" name="loop-detail-1">
            <a:extLst xmlns:a="http://schemas.openxmlformats.org/drawingml/2006/main">
              <a:ext uri="{FF2B5EF4-FFF2-40B4-BE49-F238E27FC236}">
                <a16:creationId xmlns:a16="http://schemas.microsoft.com/office/drawing/2014/main" id="{E1C2502F-029B-4423-B059-6DD2F08C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B6470"/>
                </a:solidFill>
              </a:defRPr>
            </a:pPr>
            <a:r>
              <a:rPr sz="1275" b="1">
                <a:solidFill>
                  <a:srgbClr val="5B6470"/>
                </a:solidFill>
              </a:rPr>
              <a:t>Typed descriptors</a:t>
            </a:r>
          </a:p>
        </p:txBody>
      </p:sp>
      <p:sp>
        <p:nvSpPr>
          <p:cNvPr id="13" name="loop-detail-2">
            <a:extLst xmlns:a="http://schemas.openxmlformats.org/drawingml/2006/main">
              <a:ext uri="{FF2B5EF4-FFF2-40B4-BE49-F238E27FC236}">
                <a16:creationId xmlns:a16="http://schemas.microsoft.com/office/drawing/2014/main" id="{3C7F454C-3B29-4EDC-9218-39680AC9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3855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B6470"/>
                </a:solidFill>
              </a:defRPr>
            </a:pPr>
            <a:r>
              <a:rPr sz="1275" b="1">
                <a:solidFill>
                  <a:srgbClr val="5B6470"/>
                </a:solidFill>
              </a:rPr>
              <a:t>Human, policy, or LLM</a:t>
            </a:r>
          </a:p>
        </p:txBody>
      </p:sp>
      <p:sp>
        <p:nvSpPr>
          <p:cNvPr id="14" name="loop-detail-3">
            <a:extLst xmlns:a="http://schemas.openxmlformats.org/drawingml/2006/main">
              <a:ext uri="{FF2B5EF4-FFF2-40B4-BE49-F238E27FC236}">
                <a16:creationId xmlns:a16="http://schemas.microsoft.com/office/drawing/2014/main" id="{DECD98E6-9DEE-4339-BD4B-A1BC6842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385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B6470"/>
                </a:solidFill>
              </a:defRPr>
            </a:pPr>
            <a:r>
              <a:rPr sz="1275" b="1">
                <a:solidFill>
                  <a:srgbClr val="5B6470"/>
                </a:solidFill>
              </a:rPr>
              <a:t>Stale or forged = rejected</a:t>
            </a:r>
          </a:p>
        </p:txBody>
      </p:sp>
      <p:sp>
        <p:nvSpPr>
          <p:cNvPr id="15" name="loop-detail-4">
            <a:extLst xmlns:a="http://schemas.openxmlformats.org/drawingml/2006/main">
              <a:ext uri="{FF2B5EF4-FFF2-40B4-BE49-F238E27FC236}">
                <a16:creationId xmlns:a16="http://schemas.microsoft.com/office/drawing/2014/main" id="{E51074C7-1455-4581-8DF2-0B77E6C2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385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B6470"/>
                </a:solidFill>
              </a:defRPr>
            </a:pPr>
            <a:r>
              <a:rPr sz="1275" b="1">
                <a:solidFill>
                  <a:srgbClr val="5B6470"/>
                </a:solidFill>
              </a:rPr>
              <a:t>Canonical event order</a:t>
            </a:r>
          </a:p>
        </p:txBody>
      </p:sp>
      <p:sp>
        <p:nvSpPr>
          <p:cNvPr id="16" name="loop-callout">
            <a:extLst xmlns:a="http://schemas.openxmlformats.org/drawingml/2006/main">
              <a:ext uri="{FF2B5EF4-FFF2-40B4-BE49-F238E27FC236}">
                <a16:creationId xmlns:a16="http://schemas.microsoft.com/office/drawing/2014/main" id="{E175815F-9E94-45F6-A531-361A0E79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629150"/>
            <a:ext cx="7277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loop-callout-text">
            <a:extLst xmlns:a="http://schemas.openxmlformats.org/drawingml/2006/main">
              <a:ext uri="{FF2B5EF4-FFF2-40B4-BE49-F238E27FC236}">
                <a16:creationId xmlns:a16="http://schemas.microsoft.com/office/drawing/2014/main" id="{D69AABD7-AAA4-4254-A861-2E2482BA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00600"/>
            <a:ext cx="662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Callers never submit “move this unit to B3.”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They submit an action the engine already issued for this exact state version.</a:t>
            </a:r>
          </a:p>
        </p:txBody>
      </p:sp>
    </p:spTree>
    <p:extLst>
      <p:ext uri="{BB962C8B-B14F-4D97-AF65-F5344CB8AC3E}">
        <p14:creationId xmlns:p14="http://schemas.microsoft.com/office/powerpoint/2010/main" val="1368454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6">
            <a:extLst xmlns:a="http://schemas.openxmlformats.org/drawingml/2006/main">
              <a:ext uri="{FF2B5EF4-FFF2-40B4-BE49-F238E27FC236}">
                <a16:creationId xmlns:a16="http://schemas.microsoft.com/office/drawing/2014/main" id="{5D413677-D3C7-42FB-B058-34D909D2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0"/>
                </a:solidFill>
              </a:defRPr>
            </a:pPr>
            <a:r>
              <a:rPr sz="1200" b="1">
                <a:solidFill>
                  <a:srgbClr val="5B6470"/>
                </a:solidFill>
              </a:rPr>
              <a:t>SORCERY SIMULATOR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5997188B-96B0-43CC-80BD-B62D0999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114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Rules stay readable—and directly provable</a:t>
            </a:r>
          </a:p>
        </p:txBody>
      </p:sp>
      <p:sp>
        <p:nvSpPr>
          <p:cNvPr id="3" name="rule-48-666">
            <a:extLst xmlns:a="http://schemas.openxmlformats.org/drawingml/2006/main">
              <a:ext uri="{FF2B5EF4-FFF2-40B4-BE49-F238E27FC236}">
                <a16:creationId xmlns:a16="http://schemas.microsoft.com/office/drawing/2014/main" id="{5D046271-F3DB-4289-94C2-E2D24938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EC6C12AA-872F-4480-83EE-0196BB9C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0"/>
                </a:solidFill>
              </a:defRPr>
            </a:pPr>
            <a:r>
              <a:rPr sz="1050" b="0">
                <a:solidFill>
                  <a:srgbClr val="5B6470"/>
                </a:solidFill>
              </a:rPr>
              <a:t>06</a:t>
            </a:r>
          </a:p>
        </p:txBody>
      </p:sp>
      <p:sp>
        <p:nvSpPr>
          <p:cNvPr id="5" name="json-field">
            <a:extLst xmlns:a="http://schemas.openxmlformats.org/drawingml/2006/main">
              <a:ext uri="{FF2B5EF4-FFF2-40B4-BE49-F238E27FC236}">
                <a16:creationId xmlns:a16="http://schemas.microsoft.com/office/drawing/2014/main" id="{A6A81335-88D9-4CBC-A394-CA172DBF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60769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json-label">
            <a:extLst xmlns:a="http://schemas.openxmlformats.org/drawingml/2006/main">
              <a:ext uri="{FF2B5EF4-FFF2-40B4-BE49-F238E27FC236}">
                <a16:creationId xmlns:a16="http://schemas.microsoft.com/office/drawing/2014/main" id="{65A49A56-9D4D-4F5A-9746-E80BC1B6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DCBF4"/>
                </a:solidFill>
              </a:defRPr>
            </a:pPr>
            <a:r>
              <a:rPr sz="1200" b="1">
                <a:solidFill>
                  <a:srgbClr val="6DCBF4"/>
                </a:solidFill>
              </a:rPr>
              <a:t>HUMAN-REVIEWABLE RULE FACTS</a:t>
            </a:r>
          </a:p>
        </p:txBody>
      </p:sp>
      <p:sp>
        <p:nvSpPr>
          <p:cNvPr id="7" name="json-example">
            <a:extLst xmlns:a="http://schemas.openxmlformats.org/drawingml/2006/main">
              <a:ext uri="{FF2B5EF4-FFF2-40B4-BE49-F238E27FC236}">
                <a16:creationId xmlns:a16="http://schemas.microsoft.com/office/drawing/2014/main" id="{D1A7B969-708F-40DB-AD49-5D82496E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533400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{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  "cardType": "minion",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  "attack": 2,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  "defense": 2,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  "manaCost": 1,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  "thresholds": { "air": 1 },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  "charge": true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8" name="json-caption">
            <a:extLst xmlns:a="http://schemas.openxmlformats.org/drawingml/2006/main">
              <a:ext uri="{FF2B5EF4-FFF2-40B4-BE49-F238E27FC236}">
                <a16:creationId xmlns:a16="http://schemas.microsoft.com/office/drawing/2014/main" id="{8F8F92F6-6933-4A8D-AF2B-61DD2B72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C6CBD2"/>
                </a:solidFill>
              </a:defRPr>
            </a:pPr>
            <a:r>
              <a:rPr sz="1275" b="0">
                <a:solidFill>
                  <a:srgbClr val="C6CBD2"/>
                </a:solidFill>
              </a:rPr>
              <a:t>Facts describe the rule. Shared helpers enforce it. Card names do not branch engine behavior.</a:t>
            </a:r>
          </a:p>
        </p:txBody>
      </p:sp>
      <p:sp>
        <p:nvSpPr>
          <p:cNvPr id="9" name="proof-total">
            <a:extLst xmlns:a="http://schemas.openxmlformats.org/drawingml/2006/main">
              <a:ext uri="{FF2B5EF4-FFF2-40B4-BE49-F238E27FC236}">
                <a16:creationId xmlns:a16="http://schemas.microsoft.com/office/drawing/2014/main" id="{8194F12E-C1D7-496E-AF0D-999320F2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764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5400" b="1">
                <a:solidFill>
                  <a:srgbClr val="000000"/>
                </a:solidFill>
              </a:defRPr>
            </a:pPr>
            <a:r>
              <a:rPr sz="5400" b="1">
                <a:solidFill>
                  <a:srgbClr val="000000"/>
                </a:solidFill>
              </a:rPr>
              <a:t>160</a:t>
            </a:r>
          </a:p>
        </p:txBody>
      </p:sp>
      <p:sp>
        <p:nvSpPr>
          <p:cNvPr id="10" name="proof-total-label">
            <a:extLst xmlns:a="http://schemas.openxmlformats.org/drawingml/2006/main">
              <a:ext uri="{FF2B5EF4-FFF2-40B4-BE49-F238E27FC236}">
                <a16:creationId xmlns:a16="http://schemas.microsoft.com/office/drawing/2014/main" id="{672F38F1-A8D6-4F21-9812-F9BDE997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B6470"/>
                </a:solidFill>
              </a:defRPr>
            </a:pPr>
            <a:r>
              <a:rPr sz="1650" b="1">
                <a:solidFill>
                  <a:srgbClr val="5B6470"/>
                </a:solidFill>
              </a:rPr>
              <a:t>direct catalog scenarios</a:t>
            </a:r>
          </a:p>
        </p:txBody>
      </p:sp>
      <p:sp>
        <p:nvSpPr>
          <p:cNvPr id="11" name="rule-772-330">
            <a:extLst xmlns:a="http://schemas.openxmlformats.org/drawingml/2006/main">
              <a:ext uri="{FF2B5EF4-FFF2-40B4-BE49-F238E27FC236}">
                <a16:creationId xmlns:a16="http://schemas.microsoft.com/office/drawing/2014/main" id="{880965A1-8E29-4F6E-966B-A76920BA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43250"/>
            <a:ext cx="320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oof-rust">
            <a:extLst xmlns:a="http://schemas.openxmlformats.org/drawingml/2006/main">
              <a:ext uri="{FF2B5EF4-FFF2-40B4-BE49-F238E27FC236}">
                <a16:creationId xmlns:a16="http://schemas.microsoft.com/office/drawing/2014/main" id="{175ACDBC-4F9D-4471-B85F-C70BB4B1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71850"/>
            <a:ext cx="342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950" b="1">
                <a:solidFill>
                  <a:srgbClr val="3D8DFF"/>
                </a:solidFill>
              </a:defRPr>
            </a:pPr>
            <a:r>
              <a:rPr sz="4950" b="1">
                <a:solidFill>
                  <a:srgbClr val="3D8DFF"/>
                </a:solidFill>
              </a:rPr>
              <a:t>43</a:t>
            </a:r>
          </a:p>
        </p:txBody>
      </p:sp>
      <p:sp>
        <p:nvSpPr>
          <p:cNvPr id="13" name="proof-rust-label">
            <a:extLst xmlns:a="http://schemas.openxmlformats.org/drawingml/2006/main">
              <a:ext uri="{FF2B5EF4-FFF2-40B4-BE49-F238E27FC236}">
                <a16:creationId xmlns:a16="http://schemas.microsoft.com/office/drawing/2014/main" id="{6AFB3444-7004-40D2-8961-DBC45B31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100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currently Rust-supported</a:t>
            </a:r>
          </a:p>
        </p:txBody>
      </p:sp>
      <p:sp>
        <p:nvSpPr>
          <p:cNvPr id="14" name="proof-note">
            <a:extLst xmlns:a="http://schemas.openxmlformats.org/drawingml/2006/main">
              <a:ext uri="{FF2B5EF4-FFF2-40B4-BE49-F238E27FC236}">
                <a16:creationId xmlns:a16="http://schemas.microsoft.com/office/drawing/2014/main" id="{ED03588E-FE42-42C1-83F5-9C78BE88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95850"/>
            <a:ext cx="3962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B6470"/>
                </a:solidFill>
              </a:defRPr>
            </a:pPr>
            <a:r>
              <a:rPr sz="1425" b="0">
                <a:solidFill>
                  <a:srgbClr val="5B6470"/>
                </a:solidFill>
              </a:rPr>
              <a:t>Each row links to a named scenario proof; “parsed” is not the same as “implemented.”</a:t>
            </a:r>
          </a:p>
        </p:txBody>
      </p:sp>
    </p:spTree>
    <p:extLst>
      <p:ext uri="{BB962C8B-B14F-4D97-AF65-F5344CB8AC3E}">
        <p14:creationId xmlns:p14="http://schemas.microsoft.com/office/powerpoint/2010/main" val="823740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7">
            <a:extLst xmlns:a="http://schemas.openxmlformats.org/drawingml/2006/main">
              <a:ext uri="{FF2B5EF4-FFF2-40B4-BE49-F238E27FC236}">
                <a16:creationId xmlns:a16="http://schemas.microsoft.com/office/drawing/2014/main" id="{1649786A-A7A2-4AE6-BB70-8A989F17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0"/>
                </a:solidFill>
              </a:defRPr>
            </a:pPr>
            <a:r>
              <a:rPr sz="1200" b="1">
                <a:solidFill>
                  <a:srgbClr val="5B6470"/>
                </a:solidFill>
              </a:rPr>
              <a:t>SORCERY SIMULATOR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F13C184D-4996-4FF2-A36D-7D094582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114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Seed + manifest reproduce the same authoritative game</a:t>
            </a:r>
          </a:p>
        </p:txBody>
      </p:sp>
      <p:sp>
        <p:nvSpPr>
          <p:cNvPr id="3" name="rule-48-666">
            <a:extLst xmlns:a="http://schemas.openxmlformats.org/drawingml/2006/main">
              <a:ext uri="{FF2B5EF4-FFF2-40B4-BE49-F238E27FC236}">
                <a16:creationId xmlns:a16="http://schemas.microsoft.com/office/drawing/2014/main" id="{8A46E987-85E6-4A2B-B39F-8F3C8D99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063C36A5-BA25-4E78-8335-08B05D2B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0"/>
                </a:solidFill>
              </a:defRPr>
            </a:pPr>
            <a:r>
              <a:rPr sz="1050" b="0">
                <a:solidFill>
                  <a:srgbClr val="5B6470"/>
                </a:solidFill>
              </a:rPr>
              <a:t>07</a:t>
            </a:r>
          </a:p>
        </p:txBody>
      </p:sp>
      <p:sp>
        <p:nvSpPr>
          <p:cNvPr id="5" name="det-a1">
            <a:extLst xmlns:a="http://schemas.openxmlformats.org/drawingml/2006/main">
              <a:ext uri="{FF2B5EF4-FFF2-40B4-BE49-F238E27FC236}">
                <a16:creationId xmlns:a16="http://schemas.microsoft.com/office/drawing/2014/main" id="{CCBBB790-5746-4A18-994D-FB03911D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95550"/>
            <a:ext cx="552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et-a2">
            <a:extLst xmlns:a="http://schemas.openxmlformats.org/drawingml/2006/main">
              <a:ext uri="{FF2B5EF4-FFF2-40B4-BE49-F238E27FC236}">
                <a16:creationId xmlns:a16="http://schemas.microsoft.com/office/drawing/2014/main" id="{8C899067-E6C8-4EBE-A3CF-02674D8B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95550"/>
            <a:ext cx="552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t-a3">
            <a:extLst xmlns:a="http://schemas.openxmlformats.org/drawingml/2006/main">
              <a:ext uri="{FF2B5EF4-FFF2-40B4-BE49-F238E27FC236}">
                <a16:creationId xmlns:a16="http://schemas.microsoft.com/office/drawing/2014/main" id="{5787E817-8A30-4F6D-AEC2-012ED6A8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95550"/>
            <a:ext cx="552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t-n1">
            <a:extLst xmlns:a="http://schemas.openxmlformats.org/drawingml/2006/main">
              <a:ext uri="{FF2B5EF4-FFF2-40B4-BE49-F238E27FC236}">
                <a16:creationId xmlns:a16="http://schemas.microsoft.com/office/drawing/2014/main" id="{5A32CDAA-72EC-4C11-BFA6-CC3BD2D1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21526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Manifest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cards • decks • revision</a:t>
            </a:r>
          </a:p>
        </p:txBody>
      </p:sp>
      <p:sp>
        <p:nvSpPr>
          <p:cNvPr id="9" name="det-n2">
            <a:extLst xmlns:a="http://schemas.openxmlformats.org/drawingml/2006/main">
              <a:ext uri="{FF2B5EF4-FFF2-40B4-BE49-F238E27FC236}">
                <a16:creationId xmlns:a16="http://schemas.microsoft.com/office/drawing/2014/main" id="{88BB4248-858A-4EE4-8AF6-26139047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62150"/>
            <a:ext cx="25908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Versioned seed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deterministic PRNG</a:t>
            </a:r>
          </a:p>
        </p:txBody>
      </p:sp>
      <p:sp>
        <p:nvSpPr>
          <p:cNvPr id="10" name="det-n3">
            <a:extLst xmlns:a="http://schemas.openxmlformats.org/drawingml/2006/main">
              <a:ext uri="{FF2B5EF4-FFF2-40B4-BE49-F238E27FC236}">
                <a16:creationId xmlns:a16="http://schemas.microsoft.com/office/drawing/2014/main" id="{21610E9D-90E2-452B-A11B-EFF516A3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62150"/>
            <a:ext cx="25908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Canonical action IDs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ordered events</a:t>
            </a:r>
          </a:p>
        </p:txBody>
      </p:sp>
      <p:sp>
        <p:nvSpPr>
          <p:cNvPr id="11" name="det-n4">
            <a:extLst xmlns:a="http://schemas.openxmlformats.org/drawingml/2006/main">
              <a:ext uri="{FF2B5EF4-FFF2-40B4-BE49-F238E27FC236}">
                <a16:creationId xmlns:a16="http://schemas.microsoft.com/office/drawing/2014/main" id="{7C6ECA4F-3C68-44A1-909A-E29B12CB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62150"/>
            <a:ext cx="21526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Byte-identical replay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verification</a:t>
            </a:r>
          </a:p>
        </p:txBody>
      </p:sp>
      <p:sp>
        <p:nvSpPr>
          <p:cNvPr id="12" name="checkpoint-left-panel">
            <a:extLst xmlns:a="http://schemas.openxmlformats.org/drawingml/2006/main">
              <a:ext uri="{FF2B5EF4-FFF2-40B4-BE49-F238E27FC236}">
                <a16:creationId xmlns:a16="http://schemas.microsoft.com/office/drawing/2014/main" id="{451122A8-8843-4514-A4FE-AFC5E1AE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4572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heckpoint-left-heading">
            <a:extLst xmlns:a="http://schemas.openxmlformats.org/drawingml/2006/main">
              <a:ext uri="{FF2B5EF4-FFF2-40B4-BE49-F238E27FC236}">
                <a16:creationId xmlns:a16="http://schemas.microsoft.com/office/drawing/2014/main" id="{1A89F973-C6C5-47A2-ACCD-C968E585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33850"/>
            <a:ext cx="411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Checkpoint</a:t>
            </a:r>
          </a:p>
        </p:txBody>
      </p:sp>
      <p:sp>
        <p:nvSpPr>
          <p:cNvPr id="14" name="checkpoint-left-body">
            <a:extLst xmlns:a="http://schemas.openxmlformats.org/drawingml/2006/main">
              <a:ext uri="{FF2B5EF4-FFF2-40B4-BE49-F238E27FC236}">
                <a16:creationId xmlns:a16="http://schemas.microsoft.com/office/drawing/2014/main" id="{1FE6B3C6-1BB4-4A3E-8FE8-908C58AF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91050"/>
            <a:ext cx="4114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6191E"/>
                </a:solidFill>
              </a:defRPr>
            </a:pPr>
            <a:r>
              <a:rPr sz="1425" b="0">
                <a:solidFill>
                  <a:srgbClr val="16191E"/>
                </a:solidFill>
              </a:rPr>
              <a:t>A compact deterministic branch point for trying different legal continuations.</a:t>
            </a:r>
          </a:p>
        </p:txBody>
      </p:sp>
      <p:sp>
        <p:nvSpPr>
          <p:cNvPr id="15" name="checkpoint-right-panel">
            <a:extLst xmlns:a="http://schemas.openxmlformats.org/drawingml/2006/main">
              <a:ext uri="{FF2B5EF4-FFF2-40B4-BE49-F238E27FC236}">
                <a16:creationId xmlns:a16="http://schemas.microsoft.com/office/drawing/2014/main" id="{8B49FE1D-F78E-4FF3-AE70-9C4D48AE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24300"/>
            <a:ext cx="4572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point-right-heading">
            <a:extLst xmlns:a="http://schemas.openxmlformats.org/drawingml/2006/main">
              <a:ext uri="{FF2B5EF4-FFF2-40B4-BE49-F238E27FC236}">
                <a16:creationId xmlns:a16="http://schemas.microsoft.com/office/drawing/2014/main" id="{21CD5C3D-2B08-4D13-98E1-FED077C6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33850"/>
            <a:ext cx="411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Replay</a:t>
            </a:r>
          </a:p>
        </p:txBody>
      </p:sp>
      <p:sp>
        <p:nvSpPr>
          <p:cNvPr id="17" name="checkpoint-right-body">
            <a:extLst xmlns:a="http://schemas.openxmlformats.org/drawingml/2006/main">
              <a:ext uri="{FF2B5EF4-FFF2-40B4-BE49-F238E27FC236}">
                <a16:creationId xmlns:a16="http://schemas.microsoft.com/office/drawing/2014/main" id="{B3EDF4B9-1964-43DB-8F20-918188B2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91050"/>
            <a:ext cx="4114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6191E"/>
                </a:solidFill>
              </a:defRPr>
            </a:pPr>
            <a:r>
              <a:rPr sz="1425" b="0">
                <a:solidFill>
                  <a:srgbClr val="16191E"/>
                </a:solidFill>
              </a:rPr>
              <a:t>The selected line runs once through the full authoritative path to create hashes, receipts, and journals.</a:t>
            </a:r>
          </a:p>
        </p:txBody>
      </p:sp>
      <p:sp>
        <p:nvSpPr>
          <p:cNvPr id="18" name="checkpoint-bridge">
            <a:extLst xmlns:a="http://schemas.openxmlformats.org/drawingml/2006/main">
              <a:ext uri="{FF2B5EF4-FFF2-40B4-BE49-F238E27FC236}">
                <a16:creationId xmlns:a16="http://schemas.microsoft.com/office/drawing/2014/main" id="{DE0EB120-6B16-440C-9648-7CD0B4C7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305300"/>
            <a:ext cx="72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5B6470"/>
                </a:solidFill>
              </a:defRPr>
            </a:pPr>
            <a:r>
              <a:rPr sz="3600" b="1">
                <a:solidFill>
                  <a:srgbClr val="5B6470"/>
                </a:solidFill>
              </a:rPr>
              <a:t>≠</a:t>
            </a:r>
          </a:p>
        </p:txBody>
      </p:sp>
    </p:spTree>
    <p:extLst>
      <p:ext uri="{BB962C8B-B14F-4D97-AF65-F5344CB8AC3E}">
        <p14:creationId xmlns:p14="http://schemas.microsoft.com/office/powerpoint/2010/main" val="43292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8">
            <a:extLst xmlns:a="http://schemas.openxmlformats.org/drawingml/2006/main">
              <a:ext uri="{FF2B5EF4-FFF2-40B4-BE49-F238E27FC236}">
                <a16:creationId xmlns:a16="http://schemas.microsoft.com/office/drawing/2014/main" id="{C4AE0684-5571-4240-81A1-A4072F1F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0"/>
                </a:solidFill>
              </a:defRPr>
            </a:pPr>
            <a:r>
              <a:rPr sz="1200" b="1">
                <a:solidFill>
                  <a:srgbClr val="5B6470"/>
                </a:solidFill>
              </a:rPr>
              <a:t>SORCERY SIMULATOR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0CB14117-1B0C-4E4C-9921-D5519C62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114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Branch cheaply; replay the winner once</a:t>
            </a:r>
          </a:p>
        </p:txBody>
      </p:sp>
      <p:sp>
        <p:nvSpPr>
          <p:cNvPr id="3" name="rule-48-666">
            <a:extLst xmlns:a="http://schemas.openxmlformats.org/drawingml/2006/main">
              <a:ext uri="{FF2B5EF4-FFF2-40B4-BE49-F238E27FC236}">
                <a16:creationId xmlns:a16="http://schemas.microsoft.com/office/drawing/2014/main" id="{88DBB20E-43B8-461F-B607-F3AE3090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B52FF6CE-CEA9-45AC-9219-6DFF7481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0"/>
                </a:solidFill>
              </a:defRPr>
            </a:pPr>
            <a:r>
              <a:rPr sz="1050" b="0">
                <a:solidFill>
                  <a:srgbClr val="5B6470"/>
                </a:solidFill>
              </a:rPr>
              <a:t>08</a:t>
            </a:r>
          </a:p>
        </p:txBody>
      </p:sp>
      <p:sp>
        <p:nvSpPr>
          <p:cNvPr id="5" name="search-a1">
            <a:extLst xmlns:a="http://schemas.openxmlformats.org/drawingml/2006/main">
              <a:ext uri="{FF2B5EF4-FFF2-40B4-BE49-F238E27FC236}">
                <a16:creationId xmlns:a16="http://schemas.microsoft.com/office/drawing/2014/main" id="{37EF8624-7936-45EB-AD03-13E1F28E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14600"/>
            <a:ext cx="381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arch-a2">
            <a:extLst xmlns:a="http://schemas.openxmlformats.org/drawingml/2006/main">
              <a:ext uri="{FF2B5EF4-FFF2-40B4-BE49-F238E27FC236}">
                <a16:creationId xmlns:a16="http://schemas.microsoft.com/office/drawing/2014/main" id="{24A23486-2D50-4366-A08F-D85C0AF0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14600"/>
            <a:ext cx="381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earch-a3">
            <a:extLst xmlns:a="http://schemas.openxmlformats.org/drawingml/2006/main">
              <a:ext uri="{FF2B5EF4-FFF2-40B4-BE49-F238E27FC236}">
                <a16:creationId xmlns:a16="http://schemas.microsoft.com/office/drawing/2014/main" id="{DE076076-B6AF-4325-A144-DE26FF77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14600"/>
            <a:ext cx="381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arch-n1">
            <a:extLst xmlns:a="http://schemas.openxmlformats.org/drawingml/2006/main">
              <a:ext uri="{FF2B5EF4-FFF2-40B4-BE49-F238E27FC236}">
                <a16:creationId xmlns:a16="http://schemas.microsoft.com/office/drawing/2014/main" id="{C7FB9B3D-B572-457B-9644-79E04B2D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Deterministic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checkpoint</a:t>
            </a:r>
          </a:p>
        </p:txBody>
      </p:sp>
      <p:sp>
        <p:nvSpPr>
          <p:cNvPr id="9" name="search-n2">
            <a:extLst xmlns:a="http://schemas.openxmlformats.org/drawingml/2006/main">
              <a:ext uri="{FF2B5EF4-FFF2-40B4-BE49-F238E27FC236}">
                <a16:creationId xmlns:a16="http://schemas.microsoft.com/office/drawing/2014/main" id="{452F3AFB-6E48-4BAD-9505-F932036F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0025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Engine-issued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actions</a:t>
            </a:r>
          </a:p>
        </p:txBody>
      </p:sp>
      <p:sp>
        <p:nvSpPr>
          <p:cNvPr id="10" name="search-n3">
            <a:extLst xmlns:a="http://schemas.openxmlformats.org/drawingml/2006/main">
              <a:ext uri="{FF2B5EF4-FFF2-40B4-BE49-F238E27FC236}">
                <a16:creationId xmlns:a16="http://schemas.microsoft.com/office/drawing/2014/main" id="{D8D6E903-1D12-4CFF-936C-C83B5B71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0025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Compact position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clones</a:t>
            </a:r>
          </a:p>
        </p:txBody>
      </p:sp>
      <p:sp>
        <p:nvSpPr>
          <p:cNvPr id="11" name="search-n4">
            <a:extLst xmlns:a="http://schemas.openxmlformats.org/drawingml/2006/main">
              <a:ext uri="{FF2B5EF4-FFF2-40B4-BE49-F238E27FC236}">
                <a16:creationId xmlns:a16="http://schemas.microsoft.com/office/drawing/2014/main" id="{0AD5E226-AD0C-4CFD-A19F-DC364EA0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00250"/>
            <a:ext cx="2000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Score + choose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best line</a:t>
            </a:r>
          </a:p>
        </p:txBody>
      </p:sp>
      <p:sp>
        <p:nvSpPr>
          <p:cNvPr id="12" name="search-a4">
            <a:extLst xmlns:a="http://schemas.openxmlformats.org/drawingml/2006/main">
              <a:ext uri="{FF2B5EF4-FFF2-40B4-BE49-F238E27FC236}">
                <a16:creationId xmlns:a16="http://schemas.microsoft.com/office/drawing/2014/main" id="{B8B6C965-5FF8-4805-B000-ED69FB52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14600"/>
            <a:ext cx="381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earch-n5">
            <a:extLst xmlns:a="http://schemas.openxmlformats.org/drawingml/2006/main">
              <a:ext uri="{FF2B5EF4-FFF2-40B4-BE49-F238E27FC236}">
                <a16:creationId xmlns:a16="http://schemas.microsoft.com/office/drawing/2014/main" id="{2C8766C3-48AB-4B48-8AB3-ABB03CB3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00250"/>
            <a:ext cx="2190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Authoritative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final replay</a:t>
            </a:r>
          </a:p>
        </p:txBody>
      </p:sp>
      <p:sp>
        <p:nvSpPr>
          <p:cNvPr id="14" name="search-do">
            <a:extLst xmlns:a="http://schemas.openxmlformats.org/drawingml/2006/main">
              <a:ext uri="{FF2B5EF4-FFF2-40B4-BE49-F238E27FC236}">
                <a16:creationId xmlns:a16="http://schemas.microsoft.com/office/drawing/2014/main" id="{4FE7790E-E895-40E3-83FD-1CF096AB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52197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earch-do-title">
            <a:extLst xmlns:a="http://schemas.openxmlformats.org/drawingml/2006/main">
              <a:ext uri="{FF2B5EF4-FFF2-40B4-BE49-F238E27FC236}">
                <a16:creationId xmlns:a16="http://schemas.microsoft.com/office/drawing/2014/main" id="{D1FF2044-8AAD-4028-9E12-C1B39A0B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INSIDE RUST</a:t>
            </a:r>
          </a:p>
        </p:txBody>
      </p:sp>
      <p:sp>
        <p:nvSpPr>
          <p:cNvPr id="16" name="search-do-body">
            <a:extLst xmlns:a="http://schemas.openxmlformats.org/drawingml/2006/main">
              <a:ext uri="{FF2B5EF4-FFF2-40B4-BE49-F238E27FC236}">
                <a16:creationId xmlns:a16="http://schemas.microsoft.com/office/drawing/2014/main" id="{6CFFB789-296D-480B-8E4A-D01B3C65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457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Whole rollout batches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State retained in native memory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Parallel workers at coarse boundaries</a:t>
            </a:r>
          </a:p>
        </p:txBody>
      </p:sp>
      <p:sp>
        <p:nvSpPr>
          <p:cNvPr id="17" name="search-dont">
            <a:extLst xmlns:a="http://schemas.openxmlformats.org/drawingml/2006/main">
              <a:ext uri="{FF2B5EF4-FFF2-40B4-BE49-F238E27FC236}">
                <a16:creationId xmlns:a16="http://schemas.microsoft.com/office/drawing/2014/main" id="{BD66799F-4D1B-4787-A51A-C6CFB844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86200"/>
            <a:ext cx="5619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arch-dont-title">
            <a:extLst xmlns:a="http://schemas.openxmlformats.org/drawingml/2006/main">
              <a:ext uri="{FF2B5EF4-FFF2-40B4-BE49-F238E27FC236}">
                <a16:creationId xmlns:a16="http://schemas.microsoft.com/office/drawing/2014/main" id="{C2D6FB5F-6331-4B12-87A2-42A0DB28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1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0"/>
                </a:solidFill>
              </a:defRPr>
            </a:pPr>
            <a:r>
              <a:rPr sz="1200" b="1">
                <a:solidFill>
                  <a:srgbClr val="5B6470"/>
                </a:solidFill>
              </a:rPr>
              <a:t>NOT AT EVERY NODE</a:t>
            </a:r>
          </a:p>
        </p:txBody>
      </p:sp>
      <p:sp>
        <p:nvSpPr>
          <p:cNvPr id="19" name="search-dont-body">
            <a:extLst xmlns:a="http://schemas.openxmlformats.org/drawingml/2006/main">
              <a:ext uri="{FF2B5EF4-FFF2-40B4-BE49-F238E27FC236}">
                <a16:creationId xmlns:a16="http://schemas.microsoft.com/office/drawing/2014/main" id="{8CE632FB-BC4C-4463-AA15-2E01EA6B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577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No JSON serialization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No cryptographic hashing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No transcripts, journals, FFI, or WASM crossings</a:t>
            </a:r>
          </a:p>
        </p:txBody>
      </p:sp>
    </p:spTree>
    <p:extLst>
      <p:ext uri="{BB962C8B-B14F-4D97-AF65-F5344CB8AC3E}">
        <p14:creationId xmlns:p14="http://schemas.microsoft.com/office/powerpoint/2010/main" val="18248465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9">
            <a:extLst xmlns:a="http://schemas.openxmlformats.org/drawingml/2006/main">
              <a:ext uri="{FF2B5EF4-FFF2-40B4-BE49-F238E27FC236}">
                <a16:creationId xmlns:a16="http://schemas.microsoft.com/office/drawing/2014/main" id="{BC52A3B4-DC8B-4B18-A83C-A5DE93E5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0"/>
                </a:solidFill>
              </a:defRPr>
            </a:pPr>
            <a:r>
              <a:rPr sz="1200" b="1">
                <a:solidFill>
                  <a:srgbClr val="5B6470"/>
                </a:solidFill>
              </a:rPr>
              <a:t>SORCERY SIMULATOR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D5B5C9C5-0FC8-4B38-91F6-1C3DD786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114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MCP façade will expose coarse analysis tools</a:t>
            </a:r>
          </a:p>
        </p:txBody>
      </p:sp>
      <p:sp>
        <p:nvSpPr>
          <p:cNvPr id="3" name="rule-48-666">
            <a:extLst xmlns:a="http://schemas.openxmlformats.org/drawingml/2006/main">
              <a:ext uri="{FF2B5EF4-FFF2-40B4-BE49-F238E27FC236}">
                <a16:creationId xmlns:a16="http://schemas.microsoft.com/office/drawing/2014/main" id="{9268ACA5-F0D1-44BE-8C85-EE07844C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B032BBD7-7D98-45B0-8884-2F562348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0"/>
                </a:solidFill>
              </a:defRPr>
            </a:pPr>
            <a:r>
              <a:rPr sz="1050" b="0">
                <a:solidFill>
                  <a:srgbClr val="5B6470"/>
                </a:solidFill>
              </a:rPr>
              <a:t>09</a:t>
            </a:r>
          </a:p>
        </p:txBody>
      </p:sp>
      <p:sp>
        <p:nvSpPr>
          <p:cNvPr id="5" name="mcp-planned">
            <a:extLst xmlns:a="http://schemas.openxmlformats.org/drawingml/2006/main">
              <a:ext uri="{FF2B5EF4-FFF2-40B4-BE49-F238E27FC236}">
                <a16:creationId xmlns:a16="http://schemas.microsoft.com/office/drawing/2014/main" id="{9890CE77-A638-403D-A77D-E3C3B362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66294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6" name="mcp-planned-label">
            <a:extLst xmlns:a="http://schemas.openxmlformats.org/drawingml/2006/main">
              <a:ext uri="{FF2B5EF4-FFF2-40B4-BE49-F238E27FC236}">
                <a16:creationId xmlns:a16="http://schemas.microsoft.com/office/drawing/2014/main" id="{4051AF6B-EAF5-4F69-B2F3-580F8728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PLANNED • MCP FACADE</a:t>
            </a:r>
          </a:p>
        </p:txBody>
      </p:sp>
      <p:sp>
        <p:nvSpPr>
          <p:cNvPr id="7" name="mcp-planned-intro">
            <a:extLst xmlns:a="http://schemas.openxmlformats.org/drawingml/2006/main">
              <a:ext uri="{FF2B5EF4-FFF2-40B4-BE49-F238E27FC236}">
                <a16:creationId xmlns:a16="http://schemas.microsoft.com/office/drawing/2014/main" id="{D32A32FA-49E6-4C4B-A212-68814D68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Different LLMs can call the same stable tools:</a:t>
            </a:r>
          </a:p>
        </p:txBody>
      </p:sp>
      <p:sp>
        <p:nvSpPr>
          <p:cNvPr id="8" name="mcp-code">
            <a:extLst xmlns:a="http://schemas.openxmlformats.org/drawingml/2006/main">
              <a:ext uri="{FF2B5EF4-FFF2-40B4-BE49-F238E27FC236}">
                <a16:creationId xmlns:a16="http://schemas.microsoft.com/office/drawing/2014/main" id="{41943E28-C8FF-4661-8EA2-69A7A0EF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5905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6191E"/>
                </a:solidFill>
              </a:defRPr>
            </a:pPr>
            <a:r>
              <a:rPr sz="1575" b="0">
                <a:solidFill>
                  <a:srgbClr val="16191E"/>
                </a:solidFill>
              </a:rPr>
              <a:t>evaluate_card(card_id, deck_id, opponents, seeds)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6191E"/>
                </a:solidFill>
              </a:defRPr>
            </a:pPr>
            <a:r>
              <a:rPr sz="1575" b="0">
                <a:solidFill>
                  <a:srgbClr val="16191E"/>
                </a:solidFill>
              </a:rPr>
              <a:t>compare_decks(deck_ids, budget, seeds)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6191E"/>
                </a:solidFill>
              </a:defRPr>
            </a:pPr>
            <a:r>
              <a:rPr sz="1575" b="0">
                <a:solidFill>
                  <a:srgbClr val="16191E"/>
                </a:solidFill>
              </a:rPr>
              <a:t>search_line(checkpoint_id, horizon, policy)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6191E"/>
                </a:solidFill>
              </a:defRPr>
            </a:pPr>
            <a:r>
              <a:rPr sz="1575" b="0">
                <a:solidFill>
                  <a:srgbClr val="16191E"/>
                </a:solidFill>
              </a:rPr>
              <a:t>explain_replay(replay_id)</a:t>
            </a:r>
          </a:p>
        </p:txBody>
      </p:sp>
      <p:sp>
        <p:nvSpPr>
          <p:cNvPr id="9" name="mcp-rule">
            <a:extLst xmlns:a="http://schemas.openxmlformats.org/drawingml/2006/main">
              <a:ext uri="{FF2B5EF4-FFF2-40B4-BE49-F238E27FC236}">
                <a16:creationId xmlns:a16="http://schemas.microsoft.com/office/drawing/2014/main" id="{F8508E44-1379-46AE-AC74-6BD114B5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Tools return summaries, action IDs, and replay references—not mutation handles.</a:t>
            </a:r>
          </a:p>
        </p:txBody>
      </p:sp>
      <p:sp>
        <p:nvSpPr>
          <p:cNvPr id="10" name="mcp-current">
            <a:extLst xmlns:a="http://schemas.openxmlformats.org/drawingml/2006/main">
              <a:ext uri="{FF2B5EF4-FFF2-40B4-BE49-F238E27FC236}">
                <a16:creationId xmlns:a16="http://schemas.microsoft.com/office/drawing/2014/main" id="{FB90A994-2044-4B88-8DEB-7816B49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466850"/>
            <a:ext cx="4191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mcp-current-label">
            <a:extLst xmlns:a="http://schemas.openxmlformats.org/drawingml/2006/main">
              <a:ext uri="{FF2B5EF4-FFF2-40B4-BE49-F238E27FC236}">
                <a16:creationId xmlns:a16="http://schemas.microsoft.com/office/drawing/2014/main" id="{51211485-A936-4F52-953D-E9FCDC6F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7145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B6470"/>
                </a:solidFill>
              </a:defRPr>
            </a:pPr>
            <a:r>
              <a:rPr sz="1275" b="1">
                <a:solidFill>
                  <a:srgbClr val="5B6470"/>
                </a:solidFill>
              </a:rPr>
              <a:t>IMPLEMENTED TODAY • NATIVE</a:t>
            </a:r>
          </a:p>
        </p:txBody>
      </p:sp>
      <p:sp>
        <p:nvSpPr>
          <p:cNvPr id="12" name="mcp-current-intro">
            <a:extLst xmlns:a="http://schemas.openxmlformats.org/drawingml/2006/main">
              <a:ext uri="{FF2B5EF4-FFF2-40B4-BE49-F238E27FC236}">
                <a16:creationId xmlns:a16="http://schemas.microsoft.com/office/drawing/2014/main" id="{A0C19D6C-A628-4B91-8282-FA3E7BEC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526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CLI and library entry points:</a:t>
            </a:r>
          </a:p>
        </p:txBody>
      </p:sp>
      <p:sp>
        <p:nvSpPr>
          <p:cNvPr id="13" name="mcp-current-code">
            <a:extLst xmlns:a="http://schemas.openxmlformats.org/drawingml/2006/main">
              <a:ext uri="{FF2B5EF4-FFF2-40B4-BE49-F238E27FC236}">
                <a16:creationId xmlns:a16="http://schemas.microsoft.com/office/drawing/2014/main" id="{E6F12074-0DEB-42DB-A37C-BC6405A5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43200"/>
            <a:ext cx="33528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pnpm game:demo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pnpm game:batch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engine-benchmark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Rust library: checkpoint, batch, simulator, replay</a:t>
            </a:r>
          </a:p>
        </p:txBody>
      </p:sp>
      <p:sp>
        <p:nvSpPr>
          <p:cNvPr id="14" name="mcp-current-note">
            <a:extLst xmlns:a="http://schemas.openxmlformats.org/drawingml/2006/main">
              <a:ext uri="{FF2B5EF4-FFF2-40B4-BE49-F238E27FC236}">
                <a16:creationId xmlns:a16="http://schemas.microsoft.com/office/drawing/2014/main" id="{D6346B80-37C1-4EA8-901E-39B02B4D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238750"/>
            <a:ext cx="335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The façade is the next access layer—not a second engine.</a:t>
            </a:r>
          </a:p>
        </p:txBody>
      </p:sp>
    </p:spTree>
    <p:extLst>
      <p:ext uri="{BB962C8B-B14F-4D97-AF65-F5344CB8AC3E}">
        <p14:creationId xmlns:p14="http://schemas.microsoft.com/office/powerpoint/2010/main" val="20547745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10">
            <a:extLst xmlns:a="http://schemas.openxmlformats.org/drawingml/2006/main">
              <a:ext uri="{FF2B5EF4-FFF2-40B4-BE49-F238E27FC236}">
                <a16:creationId xmlns:a16="http://schemas.microsoft.com/office/drawing/2014/main" id="{E34C011E-C50F-4128-8B07-61FDD3DD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0"/>
                </a:solidFill>
              </a:defRPr>
            </a:pPr>
            <a:r>
              <a:rPr sz="1200" b="1">
                <a:solidFill>
                  <a:srgbClr val="5B6470"/>
                </a:solidFill>
              </a:rPr>
              <a:t>SORCERY SIMULATOR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C8715065-E854-4B51-9D1F-8E6BB904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114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Optimize power and price together</a:t>
            </a:r>
          </a:p>
        </p:txBody>
      </p:sp>
      <p:sp>
        <p:nvSpPr>
          <p:cNvPr id="3" name="rule-48-666">
            <a:extLst xmlns:a="http://schemas.openxmlformats.org/drawingml/2006/main">
              <a:ext uri="{FF2B5EF4-FFF2-40B4-BE49-F238E27FC236}">
                <a16:creationId xmlns:a16="http://schemas.microsoft.com/office/drawing/2014/main" id="{063D9903-4CB5-4FAD-AAC9-DF3360EC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99BDAF87-56FE-4457-ABB9-22205BCD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0"/>
                </a:solidFill>
              </a:defRPr>
            </a:pPr>
            <a:r>
              <a:rPr sz="1050" b="0">
                <a:solidFill>
                  <a:srgbClr val="5B6470"/>
                </a:solidFill>
              </a:rPr>
              <a:t>10</a:t>
            </a:r>
          </a:p>
        </p:txBody>
      </p:sp>
      <p:sp>
        <p:nvSpPr>
          <p:cNvPr id="5" name="eval-a1">
            <a:extLst xmlns:a="http://schemas.openxmlformats.org/drawingml/2006/main">
              <a:ext uri="{FF2B5EF4-FFF2-40B4-BE49-F238E27FC236}">
                <a16:creationId xmlns:a16="http://schemas.microsoft.com/office/drawing/2014/main" id="{9102A451-5C03-47F6-9C14-88F6F5AC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495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val-a2">
            <a:extLst xmlns:a="http://schemas.openxmlformats.org/drawingml/2006/main">
              <a:ext uri="{FF2B5EF4-FFF2-40B4-BE49-F238E27FC236}">
                <a16:creationId xmlns:a16="http://schemas.microsoft.com/office/drawing/2014/main" id="{FF8B8E4D-5793-4F38-80FA-3B5AE5F2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71750"/>
            <a:ext cx="495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val-a3">
            <a:extLst xmlns:a="http://schemas.openxmlformats.org/drawingml/2006/main">
              <a:ext uri="{FF2B5EF4-FFF2-40B4-BE49-F238E27FC236}">
                <a16:creationId xmlns:a16="http://schemas.microsoft.com/office/drawing/2014/main" id="{548B8F9D-B7D0-47EE-B763-2E2C775A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495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al-n1">
            <a:extLst xmlns:a="http://schemas.openxmlformats.org/drawingml/2006/main">
              <a:ext uri="{FF2B5EF4-FFF2-40B4-BE49-F238E27FC236}">
                <a16:creationId xmlns:a16="http://schemas.microsoft.com/office/drawing/2014/main" id="{BF81C284-4793-4F40-81A8-97889858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26860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Assigned deck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+ candidate change</a:t>
            </a:r>
          </a:p>
        </p:txBody>
      </p:sp>
      <p:sp>
        <p:nvSpPr>
          <p:cNvPr id="9" name="eval-n2">
            <a:extLst xmlns:a="http://schemas.openxmlformats.org/drawingml/2006/main">
              <a:ext uri="{FF2B5EF4-FFF2-40B4-BE49-F238E27FC236}">
                <a16:creationId xmlns:a16="http://schemas.microsoft.com/office/drawing/2014/main" id="{AB28331D-ADBE-4EF1-8E42-5AD4F593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00250"/>
            <a:ext cx="22669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Deterministic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gauntlet + search</a:t>
            </a:r>
          </a:p>
        </p:txBody>
      </p:sp>
      <p:sp>
        <p:nvSpPr>
          <p:cNvPr id="10" name="eval-n3">
            <a:extLst xmlns:a="http://schemas.openxmlformats.org/drawingml/2006/main">
              <a:ext uri="{FF2B5EF4-FFF2-40B4-BE49-F238E27FC236}">
                <a16:creationId xmlns:a16="http://schemas.microsoft.com/office/drawing/2014/main" id="{F8A6D22A-6763-4CE5-8556-2A23830B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22669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Outcome evidence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across seeds + seats</a:t>
            </a:r>
          </a:p>
        </p:txBody>
      </p:sp>
      <p:sp>
        <p:nvSpPr>
          <p:cNvPr id="11" name="eval-n4">
            <a:extLst xmlns:a="http://schemas.openxmlformats.org/drawingml/2006/main">
              <a:ext uri="{FF2B5EF4-FFF2-40B4-BE49-F238E27FC236}">
                <a16:creationId xmlns:a16="http://schemas.microsoft.com/office/drawing/2014/main" id="{43948AA2-05FD-4AFE-8932-48CA016F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00250"/>
            <a:ext cx="24384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Cost / power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Pareto frontier</a:t>
            </a:r>
          </a:p>
        </p:txBody>
      </p:sp>
      <p:sp>
        <p:nvSpPr>
          <p:cNvPr id="12" name="pareto-one-panel">
            <a:extLst xmlns:a="http://schemas.openxmlformats.org/drawingml/2006/main">
              <a:ext uri="{FF2B5EF4-FFF2-40B4-BE49-F238E27FC236}">
                <a16:creationId xmlns:a16="http://schemas.microsoft.com/office/drawing/2014/main" id="{2099927E-03BD-4591-BE5D-CC32C096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4095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reto-one-heading">
            <a:extLst xmlns:a="http://schemas.openxmlformats.org/drawingml/2006/main">
              <a:ext uri="{FF2B5EF4-FFF2-40B4-BE49-F238E27FC236}">
                <a16:creationId xmlns:a16="http://schemas.microsoft.com/office/drawing/2014/main" id="{9876811C-F413-4580-BAEC-4F8DB87C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05300"/>
            <a:ext cx="3638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Keep a candidate when…</a:t>
            </a:r>
          </a:p>
        </p:txBody>
      </p:sp>
      <p:sp>
        <p:nvSpPr>
          <p:cNvPr id="14" name="pareto-one-body">
            <a:extLst xmlns:a="http://schemas.openxmlformats.org/drawingml/2006/main">
              <a:ext uri="{FF2B5EF4-FFF2-40B4-BE49-F238E27FC236}">
                <a16:creationId xmlns:a16="http://schemas.microsoft.com/office/drawing/2014/main" id="{867D0FBF-DC35-4CE3-ABA5-A4840D6F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62500"/>
            <a:ext cx="3638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6191E"/>
                </a:solidFill>
              </a:defRPr>
            </a:pPr>
            <a:r>
              <a:rPr sz="1425" b="0">
                <a:solidFill>
                  <a:srgbClr val="16191E"/>
                </a:solidFill>
              </a:rPr>
              <a:t>It is stronger at the same cost—or cheaper at the same measured strength.</a:t>
            </a:r>
          </a:p>
        </p:txBody>
      </p:sp>
      <p:sp>
        <p:nvSpPr>
          <p:cNvPr id="15" name="pareto-two-panel">
            <a:extLst xmlns:a="http://schemas.openxmlformats.org/drawingml/2006/main">
              <a:ext uri="{FF2B5EF4-FFF2-40B4-BE49-F238E27FC236}">
                <a16:creationId xmlns:a16="http://schemas.microsoft.com/office/drawing/2014/main" id="{57466372-CBC4-425E-A4C9-C8255FC2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095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reto-two-heading">
            <a:extLst xmlns:a="http://schemas.openxmlformats.org/drawingml/2006/main">
              <a:ext uri="{FF2B5EF4-FFF2-40B4-BE49-F238E27FC236}">
                <a16:creationId xmlns:a16="http://schemas.microsoft.com/office/drawing/2014/main" id="{EED1147E-EB1C-4239-B0D7-54201BBB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05300"/>
            <a:ext cx="3638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Reject easy winners when…</a:t>
            </a:r>
          </a:p>
        </p:txBody>
      </p:sp>
      <p:sp>
        <p:nvSpPr>
          <p:cNvPr id="17" name="pareto-two-body">
            <a:extLst xmlns:a="http://schemas.openxmlformats.org/drawingml/2006/main">
              <a:ext uri="{FF2B5EF4-FFF2-40B4-BE49-F238E27FC236}">
                <a16:creationId xmlns:a16="http://schemas.microsoft.com/office/drawing/2014/main" id="{33421AB0-C6DD-4B94-BE9D-98B21FC2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62500"/>
            <a:ext cx="3638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6191E"/>
                </a:solidFill>
              </a:defRPr>
            </a:pPr>
            <a:r>
              <a:rPr sz="1425" b="0">
                <a:solidFill>
                  <a:srgbClr val="16191E"/>
                </a:solidFill>
              </a:rPr>
              <a:t>They depend on unsupported mechanics, invalid replays, leaked information, or incomparable test sets.</a:t>
            </a:r>
          </a:p>
        </p:txBody>
      </p:sp>
    </p:spTree>
    <p:extLst>
      <p:ext uri="{BB962C8B-B14F-4D97-AF65-F5344CB8AC3E}">
        <p14:creationId xmlns:p14="http://schemas.microsoft.com/office/powerpoint/2010/main" val="15791238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11">
            <a:extLst xmlns:a="http://schemas.openxmlformats.org/drawingml/2006/main">
              <a:ext uri="{FF2B5EF4-FFF2-40B4-BE49-F238E27FC236}">
                <a16:creationId xmlns:a16="http://schemas.microsoft.com/office/drawing/2014/main" id="{7A394549-E8FB-4C77-8AA8-90378BC2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0"/>
                </a:solidFill>
              </a:defRPr>
            </a:pPr>
            <a:r>
              <a:rPr sz="1200" b="1">
                <a:solidFill>
                  <a:srgbClr val="5B6470"/>
                </a:solidFill>
              </a:rPr>
              <a:t>SORCERY SIMULATOR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CF89ECE6-EB0F-4150-A765-8798BE96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114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Competitive data stays outside the rules hot path</a:t>
            </a:r>
          </a:p>
        </p:txBody>
      </p:sp>
      <p:sp>
        <p:nvSpPr>
          <p:cNvPr id="3" name="rule-48-666">
            <a:extLst xmlns:a="http://schemas.openxmlformats.org/drawingml/2006/main">
              <a:ext uri="{FF2B5EF4-FFF2-40B4-BE49-F238E27FC236}">
                <a16:creationId xmlns:a16="http://schemas.microsoft.com/office/drawing/2014/main" id="{093C6BA8-77B5-4D49-BF34-12CA5FE1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C6AC3093-7C9F-46AA-89EF-82F1AF30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0"/>
                </a:solidFill>
              </a:defRPr>
            </a:pPr>
            <a:r>
              <a:rPr sz="1050" b="0">
                <a:solidFill>
                  <a:srgbClr val="5B6470"/>
                </a:solidFill>
              </a:rPr>
              <a:t>11</a:t>
            </a:r>
          </a:p>
        </p:txBody>
      </p:sp>
      <p:sp>
        <p:nvSpPr>
          <p:cNvPr id="5" name="ingest-source-panel">
            <a:extLst xmlns:a="http://schemas.openxmlformats.org/drawingml/2006/main">
              <a:ext uri="{FF2B5EF4-FFF2-40B4-BE49-F238E27FC236}">
                <a16:creationId xmlns:a16="http://schemas.microsoft.com/office/drawing/2014/main" id="{DC01A853-AF1D-403E-A004-581E683B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331470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ingest-source-heading">
            <a:extLst xmlns:a="http://schemas.openxmlformats.org/drawingml/2006/main">
              <a:ext uri="{FF2B5EF4-FFF2-40B4-BE49-F238E27FC236}">
                <a16:creationId xmlns:a16="http://schemas.microsoft.com/office/drawing/2014/main" id="{89A9756F-39A8-42DF-A29E-47251AB3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1 • Provider boundary</a:t>
            </a:r>
          </a:p>
        </p:txBody>
      </p:sp>
      <p:sp>
        <p:nvSpPr>
          <p:cNvPr id="7" name="ingest-source-body">
            <a:extLst xmlns:a="http://schemas.openxmlformats.org/drawingml/2006/main">
              <a:ext uri="{FF2B5EF4-FFF2-40B4-BE49-F238E27FC236}">
                <a16:creationId xmlns:a16="http://schemas.microsoft.com/office/drawing/2014/main" id="{5EC97454-4ADA-43A4-BAA7-75D26D12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8575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6191E"/>
                </a:solidFill>
              </a:defRPr>
            </a:pPr>
            <a:r>
              <a:rPr sz="1500" b="0">
                <a:solidFill>
                  <a:srgbClr val="16191E"/>
                </a:solidFill>
              </a:rPr>
              <a:t>TopDeck: one bounded, authenticated API request.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6191E"/>
                </a:solidFill>
              </a:defRPr>
            </a:pPr>
            <a:r>
              <a:rPr sz="1500" b="0">
                <a:solidFill>
                  <a:srgbClr val="16191E"/>
                </a:solidFill>
              </a:rPr>
              <a:t>Price data: only through a separately licensed/accepted provider.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6191E"/>
                </a:solidFill>
              </a:defRPr>
            </a:pPr>
            <a:r>
              <a:rPr sz="1500" b="0">
                <a:solidFill>
                  <a:srgbClr val="16191E"/>
                </a:solidFill>
              </a:rPr>
              <a:t>No HTML scraping, access-control evasion, or official artwork.</a:t>
            </a:r>
          </a:p>
        </p:txBody>
      </p:sp>
      <p:sp>
        <p:nvSpPr>
          <p:cNvPr id="8" name="ingest-private-panel">
            <a:extLst xmlns:a="http://schemas.openxmlformats.org/drawingml/2006/main">
              <a:ext uri="{FF2B5EF4-FFF2-40B4-BE49-F238E27FC236}">
                <a16:creationId xmlns:a16="http://schemas.microsoft.com/office/drawing/2014/main" id="{CD01278E-843E-4F10-95E4-60FED98C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04950"/>
            <a:ext cx="331470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ngest-private-heading">
            <a:extLst xmlns:a="http://schemas.openxmlformats.org/drawingml/2006/main">
              <a:ext uri="{FF2B5EF4-FFF2-40B4-BE49-F238E27FC236}">
                <a16:creationId xmlns:a16="http://schemas.microsoft.com/office/drawing/2014/main" id="{5AA5A318-74F6-4099-ACDE-883D6EEC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145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2 • Private snapshot</a:t>
            </a:r>
          </a:p>
        </p:txBody>
      </p:sp>
      <p:sp>
        <p:nvSpPr>
          <p:cNvPr id="10" name="ingest-private-body">
            <a:extLst xmlns:a="http://schemas.openxmlformats.org/drawingml/2006/main">
              <a:ext uri="{FF2B5EF4-FFF2-40B4-BE49-F238E27FC236}">
                <a16:creationId xmlns:a16="http://schemas.microsoft.com/office/drawing/2014/main" id="{EED7CA06-E510-4B84-A0F2-420CA420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71700"/>
            <a:ext cx="28575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6191E"/>
                </a:solidFill>
              </a:defRPr>
            </a:pPr>
            <a:r>
              <a:rPr sz="1500" b="0">
                <a:solidFill>
                  <a:srgbClr val="16191E"/>
                </a:solidFill>
              </a:rPr>
              <a:t>Canonical, content-addressed files live under ignored: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6191E"/>
                </a:solidFill>
              </a:defRPr>
            </a:pPr>
            <a:r>
              <a:rPr sz="1500" b="0">
                <a:solidFill>
                  <a:srgbClr val="16191E"/>
                </a:solidFill>
              </a:rPr>
              <a:t>.local/authority/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6191E"/>
                </a:solidFill>
              </a:defRPr>
            </a:pPr>
            <a:r>
              <a:rPr sz="1500" b="0">
                <a:solidFill>
                  <a:srgbClr val="16191E"/>
                </a:solidFill>
              </a:rPr>
              <a:t>Keep raw responses, hashes, revisions, and private authority bytes local.</a:t>
            </a:r>
          </a:p>
        </p:txBody>
      </p:sp>
      <p:sp>
        <p:nvSpPr>
          <p:cNvPr id="11" name="ingest-eval-panel">
            <a:extLst xmlns:a="http://schemas.openxmlformats.org/drawingml/2006/main">
              <a:ext uri="{FF2B5EF4-FFF2-40B4-BE49-F238E27FC236}">
                <a16:creationId xmlns:a16="http://schemas.microsoft.com/office/drawing/2014/main" id="{21B02658-F672-42C9-8782-8C029BE3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04950"/>
            <a:ext cx="316230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ngest-eval-heading">
            <a:extLst xmlns:a="http://schemas.openxmlformats.org/drawingml/2006/main">
              <a:ext uri="{FF2B5EF4-FFF2-40B4-BE49-F238E27FC236}">
                <a16:creationId xmlns:a16="http://schemas.microsoft.com/office/drawing/2014/main" id="{935DB217-70D1-4B18-8A99-8F28E223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14500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3 • Evaluation input</a:t>
            </a:r>
          </a:p>
        </p:txBody>
      </p:sp>
      <p:sp>
        <p:nvSpPr>
          <p:cNvPr id="13" name="ingest-eval-body">
            <a:extLst xmlns:a="http://schemas.openxmlformats.org/drawingml/2006/main">
              <a:ext uri="{FF2B5EF4-FFF2-40B4-BE49-F238E27FC236}">
                <a16:creationId xmlns:a16="http://schemas.microsoft.com/office/drawing/2014/main" id="{41722DE8-CDC3-4237-A61C-F475A3CA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71700"/>
            <a:ext cx="27051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6191E"/>
                </a:solidFill>
              </a:defRPr>
            </a:pPr>
            <a:r>
              <a:rPr sz="1500" b="0">
                <a:solidFill>
                  <a:srgbClr val="16191E"/>
                </a:solidFill>
              </a:rPr>
              <a:t>Deck rows, placements, price observations, provenance, and timestamps feed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6191E"/>
                </a:solidFill>
              </a:defRPr>
            </a:pPr>
            <a:r>
              <a:rPr sz="1500" b="0">
                <a:solidFill>
                  <a:srgbClr val="16191E"/>
                </a:solidFill>
              </a:rPr>
              <a:t>They never define a rule or legal action.</a:t>
            </a:r>
          </a:p>
        </p:txBody>
      </p:sp>
      <p:sp>
        <p:nvSpPr>
          <p:cNvPr id="14" name="ingest-footer">
            <a:extLst xmlns:a="http://schemas.openxmlformats.org/drawingml/2006/main">
              <a:ext uri="{FF2B5EF4-FFF2-40B4-BE49-F238E27FC236}">
                <a16:creationId xmlns:a16="http://schemas.microsoft.com/office/drawing/2014/main" id="{6A66872D-2C57-4084-9698-DA48A141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673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B6470"/>
                </a:solidFill>
              </a:defRPr>
            </a:pPr>
            <a:r>
              <a:rPr sz="1350" b="1">
                <a:solidFill>
                  <a:srgbClr val="5B6470"/>
                </a:solidFill>
              </a:rPr>
              <a:t>Current TopDeck adapter omits player names, IDs, tournament names, and location metadata; placement is the retained result signal.</a:t>
            </a:r>
          </a:p>
        </p:txBody>
      </p:sp>
    </p:spTree>
    <p:extLst>
      <p:ext uri="{BB962C8B-B14F-4D97-AF65-F5344CB8AC3E}">
        <p14:creationId xmlns:p14="http://schemas.microsoft.com/office/powerpoint/2010/main" val="16521977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12">
            <a:extLst xmlns:a="http://schemas.openxmlformats.org/drawingml/2006/main">
              <a:ext uri="{FF2B5EF4-FFF2-40B4-BE49-F238E27FC236}">
                <a16:creationId xmlns:a16="http://schemas.microsoft.com/office/drawing/2014/main" id="{8C2D3F89-43F0-40EB-8B3F-331FFB43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0"/>
                </a:solidFill>
              </a:defRPr>
            </a:pPr>
            <a:r>
              <a:rPr sz="1200" b="1">
                <a:solidFill>
                  <a:srgbClr val="5B6470"/>
                </a:solidFill>
              </a:rPr>
              <a:t>SORCERY SIMULATOR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3B6D6816-675A-4020-93DB-DF6135A0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114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Self-improvement is replay-gated and deck-bound</a:t>
            </a:r>
          </a:p>
        </p:txBody>
      </p:sp>
      <p:sp>
        <p:nvSpPr>
          <p:cNvPr id="3" name="rule-48-666">
            <a:extLst xmlns:a="http://schemas.openxmlformats.org/drawingml/2006/main">
              <a:ext uri="{FF2B5EF4-FFF2-40B4-BE49-F238E27FC236}">
                <a16:creationId xmlns:a16="http://schemas.microsoft.com/office/drawing/2014/main" id="{A922B7FF-0184-4378-B143-AF7CE159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F6BA0689-74A2-4FDE-896F-6E8B5ACC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0"/>
                </a:solidFill>
              </a:defRPr>
            </a:pPr>
            <a:r>
              <a:rPr sz="1050" b="0">
                <a:solidFill>
                  <a:srgbClr val="5B6470"/>
                </a:solidFill>
              </a:rPr>
              <a:t>12</a:t>
            </a:r>
          </a:p>
        </p:txBody>
      </p:sp>
      <p:sp>
        <p:nvSpPr>
          <p:cNvPr id="5" name="learn-a1">
            <a:extLst xmlns:a="http://schemas.openxmlformats.org/drawingml/2006/main">
              <a:ext uri="{FF2B5EF4-FFF2-40B4-BE49-F238E27FC236}">
                <a16:creationId xmlns:a16="http://schemas.microsoft.com/office/drawing/2014/main" id="{66E305FF-4093-4584-92BB-8FEB83B5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47900"/>
            <a:ext cx="400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earn-a2">
            <a:extLst xmlns:a="http://schemas.openxmlformats.org/drawingml/2006/main">
              <a:ext uri="{FF2B5EF4-FFF2-40B4-BE49-F238E27FC236}">
                <a16:creationId xmlns:a16="http://schemas.microsoft.com/office/drawing/2014/main" id="{9174ED4E-B208-4D2F-A2FB-DD680E4E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7900"/>
            <a:ext cx="400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earn-a3">
            <a:extLst xmlns:a="http://schemas.openxmlformats.org/drawingml/2006/main">
              <a:ext uri="{FF2B5EF4-FFF2-40B4-BE49-F238E27FC236}">
                <a16:creationId xmlns:a16="http://schemas.microsoft.com/office/drawing/2014/main" id="{7E1F0420-3C5C-4CEC-B8DC-1084651A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47900"/>
            <a:ext cx="400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earn-a4">
            <a:extLst xmlns:a="http://schemas.openxmlformats.org/drawingml/2006/main">
              <a:ext uri="{FF2B5EF4-FFF2-40B4-BE49-F238E27FC236}">
                <a16:creationId xmlns:a16="http://schemas.microsoft.com/office/drawing/2014/main" id="{337157AB-E78A-4434-8CB7-491FDA22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47900"/>
            <a:ext cx="400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earn-down">
            <a:extLst xmlns:a="http://schemas.openxmlformats.org/drawingml/2006/main">
              <a:ext uri="{FF2B5EF4-FFF2-40B4-BE49-F238E27FC236}">
                <a16:creationId xmlns:a16="http://schemas.microsoft.com/office/drawing/2014/main" id="{A6939A73-4570-493E-BF0E-0BD82D32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306050" y="3257550"/>
            <a:ext cx="15240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earn-back">
            <a:extLst xmlns:a="http://schemas.openxmlformats.org/drawingml/2006/main">
              <a:ext uri="{FF2B5EF4-FFF2-40B4-BE49-F238E27FC236}">
                <a16:creationId xmlns:a16="http://schemas.microsoft.com/office/drawing/2014/main" id="{9542732B-1995-46D8-83A3-77B4DA2C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162300" y="4686300"/>
            <a:ext cx="57340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earn-n1">
            <a:extLst xmlns:a="http://schemas.openxmlformats.org/drawingml/2006/main">
              <a:ext uri="{FF2B5EF4-FFF2-40B4-BE49-F238E27FC236}">
                <a16:creationId xmlns:a16="http://schemas.microsoft.com/office/drawing/2014/main" id="{567405B9-37C8-4BC1-9148-2B63DEB9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Bind assigned deck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+ manifest</a:t>
            </a:r>
          </a:p>
        </p:txBody>
      </p:sp>
      <p:sp>
        <p:nvSpPr>
          <p:cNvPr id="12" name="learn-n2">
            <a:extLst xmlns:a="http://schemas.openxmlformats.org/drawingml/2006/main">
              <a:ext uri="{FF2B5EF4-FFF2-40B4-BE49-F238E27FC236}">
                <a16:creationId xmlns:a16="http://schemas.microsoft.com/office/drawing/2014/main" id="{74C74BC2-0BC4-4BD9-8D28-86D13C16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90700"/>
            <a:ext cx="1905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Explore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training seeds</a:t>
            </a:r>
          </a:p>
        </p:txBody>
      </p:sp>
      <p:sp>
        <p:nvSpPr>
          <p:cNvPr id="13" name="learn-n3">
            <a:extLst xmlns:a="http://schemas.openxmlformats.org/drawingml/2006/main">
              <a:ext uri="{FF2B5EF4-FFF2-40B4-BE49-F238E27FC236}">
                <a16:creationId xmlns:a16="http://schemas.microsoft.com/office/drawing/2014/main" id="{AE9E2AA3-10B8-47B8-A24C-4A9E2206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90700"/>
            <a:ext cx="1905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Propose policy or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deck refinement</a:t>
            </a:r>
          </a:p>
        </p:txBody>
      </p:sp>
      <p:sp>
        <p:nvSpPr>
          <p:cNvPr id="14" name="learn-n4">
            <a:extLst xmlns:a="http://schemas.openxmlformats.org/drawingml/2006/main">
              <a:ext uri="{FF2B5EF4-FFF2-40B4-BE49-F238E27FC236}">
                <a16:creationId xmlns:a16="http://schemas.microsoft.com/office/drawing/2014/main" id="{B9166424-63B0-4C49-B16A-1C75ACD3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790700"/>
            <a:ext cx="1905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Held-out seeds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+ opponents</a:t>
            </a:r>
          </a:p>
        </p:txBody>
      </p:sp>
      <p:sp>
        <p:nvSpPr>
          <p:cNvPr id="15" name="learn-n5">
            <a:extLst xmlns:a="http://schemas.openxmlformats.org/drawingml/2006/main">
              <a:ext uri="{FF2B5EF4-FFF2-40B4-BE49-F238E27FC236}">
                <a16:creationId xmlns:a16="http://schemas.microsoft.com/office/drawing/2014/main" id="{1936E567-ADA6-4F3B-BB7C-546D2192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790700"/>
            <a:ext cx="1828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Authoritative replay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verification</a:t>
            </a:r>
          </a:p>
        </p:txBody>
      </p:sp>
      <p:sp>
        <p:nvSpPr>
          <p:cNvPr id="16" name="learn-gate">
            <a:extLst xmlns:a="http://schemas.openxmlformats.org/drawingml/2006/main">
              <a:ext uri="{FF2B5EF4-FFF2-40B4-BE49-F238E27FC236}">
                <a16:creationId xmlns:a16="http://schemas.microsoft.com/office/drawing/2014/main" id="{00EA8331-8A75-44BB-9D78-7C4556A6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3380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91E"/>
          </a:solidFill>
          <a:ln xmlns:a="http://schemas.openxmlformats.org/drawingml/2006/main" w="9525">
            <a:solidFill>
              <a:srgbClr val="16191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PROMOTE ONLY IF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replay-valid • deterministic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Pareto-improving • supported</a:t>
            </a:r>
          </a:p>
        </p:txBody>
      </p:sp>
      <p:sp>
        <p:nvSpPr>
          <p:cNvPr id="17" name="learn-reject">
            <a:extLst xmlns:a="http://schemas.openxmlformats.org/drawingml/2006/main">
              <a:ext uri="{FF2B5EF4-FFF2-40B4-BE49-F238E27FC236}">
                <a16:creationId xmlns:a16="http://schemas.microsoft.com/office/drawing/2014/main" id="{838F2AE8-D66D-4D45-A959-3C802416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5B6470"/>
                </a:solidFill>
              </a:defRPr>
            </a:pPr>
            <a:r>
              <a:rPr sz="1575" b="1">
                <a:solidFill>
                  <a:srgbClr val="5B6470"/>
                </a:solidFill>
              </a:rPr>
              <a:t>Invalid or unsupported behavior → reject ranked result; never learn from a silent no-op.</a:t>
            </a:r>
          </a:p>
        </p:txBody>
      </p:sp>
    </p:spTree>
    <p:extLst>
      <p:ext uri="{BB962C8B-B14F-4D97-AF65-F5344CB8AC3E}">
        <p14:creationId xmlns:p14="http://schemas.microsoft.com/office/powerpoint/2010/main" val="13134432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13">
            <a:extLst xmlns:a="http://schemas.openxmlformats.org/drawingml/2006/main">
              <a:ext uri="{FF2B5EF4-FFF2-40B4-BE49-F238E27FC236}">
                <a16:creationId xmlns:a16="http://schemas.microsoft.com/office/drawing/2014/main" id="{EA86C399-015A-4E7F-AE1A-3A50D989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0"/>
                </a:solidFill>
              </a:defRPr>
            </a:pPr>
            <a:r>
              <a:rPr sz="1200" b="1">
                <a:solidFill>
                  <a:srgbClr val="5B6470"/>
                </a:solidFill>
              </a:rPr>
              <a:t>SORCERY SIMULATOR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D1D239BA-C223-45F4-8F82-E0397CDC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114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Current speed is promising, not yet final</a:t>
            </a:r>
          </a:p>
        </p:txBody>
      </p:sp>
      <p:sp>
        <p:nvSpPr>
          <p:cNvPr id="3" name="rule-48-666">
            <a:extLst xmlns:a="http://schemas.openxmlformats.org/drawingml/2006/main">
              <a:ext uri="{FF2B5EF4-FFF2-40B4-BE49-F238E27FC236}">
                <a16:creationId xmlns:a16="http://schemas.microsoft.com/office/drawing/2014/main" id="{D75C7249-674C-4DD1-8B5D-3F1AFADD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9FA318CD-D87D-4C8B-AB6F-515FC729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0"/>
                </a:solidFill>
              </a:defRPr>
            </a:pPr>
            <a:r>
              <a:rPr sz="1050" b="0">
                <a:solidFill>
                  <a:srgbClr val="5B6470"/>
                </a:solidFill>
              </a:rPr>
              <a:t>13</a:t>
            </a:r>
          </a:p>
        </p:txBody>
      </p:sp>
      <p:sp>
        <p:nvSpPr>
          <p:cNvPr id="5" name="perf-qualifier">
            <a:extLst xmlns:a="http://schemas.openxmlformats.org/drawingml/2006/main">
              <a:ext uri="{FF2B5EF4-FFF2-40B4-BE49-F238E27FC236}">
                <a16:creationId xmlns:a16="http://schemas.microsoft.com/office/drawing/2014/main" id="{8E76E4EF-4D35-403C-A575-008BEC43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125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PROVISIONAL DIAGNOSTIC • release-mode figures supplied during migration</a:t>
            </a:r>
          </a:p>
        </p:txBody>
      </p:sp>
      <p:sp>
        <p:nvSpPr>
          <p:cNvPr id="6" name="perf-card-1">
            <a:extLst xmlns:a="http://schemas.openxmlformats.org/drawingml/2006/main">
              <a:ext uri="{FF2B5EF4-FFF2-40B4-BE49-F238E27FC236}">
                <a16:creationId xmlns:a16="http://schemas.microsoft.com/office/drawing/2014/main" id="{347C19BB-080E-4CBC-A947-E565D668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429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erf-card-2">
            <a:extLst xmlns:a="http://schemas.openxmlformats.org/drawingml/2006/main">
              <a:ext uri="{FF2B5EF4-FFF2-40B4-BE49-F238E27FC236}">
                <a16:creationId xmlns:a16="http://schemas.microsoft.com/office/drawing/2014/main" id="{04BA329F-3FCA-4C7E-9419-A9D41261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3429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erf-card-3">
            <a:extLst xmlns:a="http://schemas.openxmlformats.org/drawingml/2006/main">
              <a:ext uri="{FF2B5EF4-FFF2-40B4-BE49-F238E27FC236}">
                <a16:creationId xmlns:a16="http://schemas.microsoft.com/office/drawing/2014/main" id="{FC91A306-10E4-4086-8DCC-B8F74025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32766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erf-label-1">
            <a:extLst xmlns:a="http://schemas.openxmlformats.org/drawingml/2006/main">
              <a:ext uri="{FF2B5EF4-FFF2-40B4-BE49-F238E27FC236}">
                <a16:creationId xmlns:a16="http://schemas.microsoft.com/office/drawing/2014/main" id="{C9861D00-3B67-4286-85A9-9412A052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0"/>
                </a:solidFill>
              </a:defRPr>
            </a:pPr>
            <a:r>
              <a:rPr sz="1200" b="1">
                <a:solidFill>
                  <a:srgbClr val="5B6470"/>
                </a:solidFill>
              </a:rPr>
              <a:t>TRANSITIONS / SECOND</a:t>
            </a:r>
          </a:p>
        </p:txBody>
      </p:sp>
      <p:sp>
        <p:nvSpPr>
          <p:cNvPr id="10" name="perf-value-1">
            <a:extLst xmlns:a="http://schemas.openxmlformats.org/drawingml/2006/main">
              <a:ext uri="{FF2B5EF4-FFF2-40B4-BE49-F238E27FC236}">
                <a16:creationId xmlns:a16="http://schemas.microsoft.com/office/drawing/2014/main" id="{1EFD208E-BE7B-4CB7-B833-53692DAE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362  →  ~665k</a:t>
            </a:r>
          </a:p>
        </p:txBody>
      </p:sp>
      <p:sp>
        <p:nvSpPr>
          <p:cNvPr id="11" name="perf-body-1">
            <a:extLst xmlns:a="http://schemas.openxmlformats.org/drawingml/2006/main">
              <a:ext uri="{FF2B5EF4-FFF2-40B4-BE49-F238E27FC236}">
                <a16:creationId xmlns:a16="http://schemas.microsoft.com/office/drawing/2014/main" id="{FEDBA528-31DB-4FB1-9D26-B6C20691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TypeScript baseline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Current Rust diagnostic</a:t>
            </a:r>
          </a:p>
        </p:txBody>
      </p:sp>
      <p:sp>
        <p:nvSpPr>
          <p:cNvPr id="12" name="perf-label-2">
            <a:extLst xmlns:a="http://schemas.openxmlformats.org/drawingml/2006/main">
              <a:ext uri="{FF2B5EF4-FFF2-40B4-BE49-F238E27FC236}">
                <a16:creationId xmlns:a16="http://schemas.microsoft.com/office/drawing/2014/main" id="{7214D171-E3BE-4DE2-8CA2-690CA4E8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0"/>
                </a:solidFill>
              </a:defRPr>
            </a:pPr>
            <a:r>
              <a:rPr sz="1200" b="1">
                <a:solidFill>
                  <a:srgbClr val="5B6470"/>
                </a:solidFill>
              </a:rPr>
              <a:t>SEARCH NODES / SECOND</a:t>
            </a:r>
          </a:p>
        </p:txBody>
      </p:sp>
      <p:sp>
        <p:nvSpPr>
          <p:cNvPr id="13" name="perf-value-2">
            <a:extLst xmlns:a="http://schemas.openxmlformats.org/drawingml/2006/main">
              <a:ext uri="{FF2B5EF4-FFF2-40B4-BE49-F238E27FC236}">
                <a16:creationId xmlns:a16="http://schemas.microsoft.com/office/drawing/2014/main" id="{497C8779-4360-454A-8D01-9E71B9E6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670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3D8DFF"/>
                </a:solidFill>
              </a:defRPr>
            </a:pPr>
            <a:r>
              <a:rPr sz="3900" b="1">
                <a:solidFill>
                  <a:srgbClr val="3D8DFF"/>
                </a:solidFill>
              </a:rPr>
              <a:t>~61k</a:t>
            </a:r>
          </a:p>
        </p:txBody>
      </p:sp>
      <p:sp>
        <p:nvSpPr>
          <p:cNvPr id="14" name="perf-body-2">
            <a:extLst xmlns:a="http://schemas.openxmlformats.org/drawingml/2006/main">
              <a:ext uri="{FF2B5EF4-FFF2-40B4-BE49-F238E27FC236}">
                <a16:creationId xmlns:a16="http://schemas.microsoft.com/office/drawing/2014/main" id="{D170215B-474C-4E10-BC66-13535D04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623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Native lightweight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search path</a:t>
            </a:r>
          </a:p>
        </p:txBody>
      </p:sp>
      <p:sp>
        <p:nvSpPr>
          <p:cNvPr id="15" name="perf-label-3">
            <a:extLst xmlns:a="http://schemas.openxmlformats.org/drawingml/2006/main">
              <a:ext uri="{FF2B5EF4-FFF2-40B4-BE49-F238E27FC236}">
                <a16:creationId xmlns:a16="http://schemas.microsoft.com/office/drawing/2014/main" id="{2F848798-6D9E-45BB-9EBD-13D7DE52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145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0"/>
                </a:solidFill>
              </a:defRPr>
            </a:pPr>
            <a:r>
              <a:rPr sz="1200" b="1">
                <a:solidFill>
                  <a:srgbClr val="5B6470"/>
                </a:solidFill>
              </a:rPr>
              <a:t>REPLAY GAMES / SECOND</a:t>
            </a:r>
          </a:p>
        </p:txBody>
      </p:sp>
      <p:sp>
        <p:nvSpPr>
          <p:cNvPr id="16" name="perf-value-3">
            <a:extLst xmlns:a="http://schemas.openxmlformats.org/drawingml/2006/main">
              <a:ext uri="{FF2B5EF4-FFF2-40B4-BE49-F238E27FC236}">
                <a16:creationId xmlns:a16="http://schemas.microsoft.com/office/drawing/2014/main" id="{B9DE22F1-1DD5-4739-B327-FEE3D26E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670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0.706  →  ~3.9</a:t>
            </a:r>
          </a:p>
        </p:txBody>
      </p:sp>
      <p:sp>
        <p:nvSpPr>
          <p:cNvPr id="17" name="perf-body-3">
            <a:extLst xmlns:a="http://schemas.openxmlformats.org/drawingml/2006/main">
              <a:ext uri="{FF2B5EF4-FFF2-40B4-BE49-F238E27FC236}">
                <a16:creationId xmlns:a16="http://schemas.microsoft.com/office/drawing/2014/main" id="{CC928D88-9064-487B-A437-88DFA9DD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62350"/>
            <a:ext cx="2781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TypeScript baseline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Current Rust diagnostic</a:t>
            </a:r>
          </a:p>
        </p:txBody>
      </p:sp>
      <p:sp>
        <p:nvSpPr>
          <p:cNvPr id="18" name="perf-warning">
            <a:extLst xmlns:a="http://schemas.openxmlformats.org/drawingml/2006/main">
              <a:ext uri="{FF2B5EF4-FFF2-40B4-BE49-F238E27FC236}">
                <a16:creationId xmlns:a16="http://schemas.microsoft.com/office/drawing/2014/main" id="{0E473A77-9612-4A46-BD90-DE2917FF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B6470"/>
                </a:solidFill>
              </a:defRPr>
            </a:pPr>
            <a:r>
              <a:rPr sz="1350" b="1">
                <a:solidFill>
                  <a:srgbClr val="5B6470"/>
                </a:solidFill>
              </a:rPr>
              <a:t>Do not read the transition gap as a final apples-to-apples speedup. Full-rule parity, equivalent workloads, median/p95, and peak memory still gate the cutover benchmark.</a:t>
            </a:r>
          </a:p>
        </p:txBody>
      </p:sp>
    </p:spTree>
    <p:extLst>
      <p:ext uri="{BB962C8B-B14F-4D97-AF65-F5344CB8AC3E}">
        <p14:creationId xmlns:p14="http://schemas.microsoft.com/office/powerpoint/2010/main" val="18747897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-14">
            <a:extLst xmlns:a="http://schemas.openxmlformats.org/drawingml/2006/main">
              <a:ext uri="{FF2B5EF4-FFF2-40B4-BE49-F238E27FC236}">
                <a16:creationId xmlns:a16="http://schemas.microsoft.com/office/drawing/2014/main" id="{35055540-F874-4FFC-B5BB-30B0D5E3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0"/>
                </a:solidFill>
              </a:defRPr>
            </a:pPr>
            <a:r>
              <a:rPr sz="1200" b="1">
                <a:solidFill>
                  <a:srgbClr val="5B6470"/>
                </a:solidFill>
              </a:rPr>
              <a:t>SORCERY SIMULATOR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3725678E-7EEF-4674-9467-FBAB3870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114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Your workflow: assign, test, compare, refine</a:t>
            </a:r>
          </a:p>
        </p:txBody>
      </p:sp>
      <p:sp>
        <p:nvSpPr>
          <p:cNvPr id="3" name="rule-48-666">
            <a:extLst xmlns:a="http://schemas.openxmlformats.org/drawingml/2006/main">
              <a:ext uri="{FF2B5EF4-FFF2-40B4-BE49-F238E27FC236}">
                <a16:creationId xmlns:a16="http://schemas.microsoft.com/office/drawing/2014/main" id="{0AFAB769-126C-420F-BF7E-AA3A9913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4">
            <a:extLst xmlns:a="http://schemas.openxmlformats.org/drawingml/2006/main">
              <a:ext uri="{FF2B5EF4-FFF2-40B4-BE49-F238E27FC236}">
                <a16:creationId xmlns:a16="http://schemas.microsoft.com/office/drawing/2014/main" id="{4D0BDFD7-64BF-43B5-87CE-7D982757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0"/>
                </a:solidFill>
              </a:defRPr>
            </a:pPr>
            <a:r>
              <a:rPr sz="1050" b="0">
                <a:solidFill>
                  <a:srgbClr val="5B6470"/>
                </a:solidFill>
              </a:rPr>
              <a:t>14</a:t>
            </a:r>
          </a:p>
        </p:txBody>
      </p:sp>
      <p:sp>
        <p:nvSpPr>
          <p:cNvPr id="5" name="final-step-0">
            <a:extLst xmlns:a="http://schemas.openxmlformats.org/drawingml/2006/main">
              <a:ext uri="{FF2B5EF4-FFF2-40B4-BE49-F238E27FC236}">
                <a16:creationId xmlns:a16="http://schemas.microsoft.com/office/drawing/2014/main" id="{D43A395B-DE3F-416B-807D-95F27FA4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33147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nal-num-0">
            <a:extLst xmlns:a="http://schemas.openxmlformats.org/drawingml/2006/main">
              <a:ext uri="{FF2B5EF4-FFF2-40B4-BE49-F238E27FC236}">
                <a16:creationId xmlns:a16="http://schemas.microsoft.com/office/drawing/2014/main" id="{7B3F592C-D033-43C6-BC56-AFC48915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7" name="final-head-0">
            <a:extLst xmlns:a="http://schemas.openxmlformats.org/drawingml/2006/main">
              <a:ext uri="{FF2B5EF4-FFF2-40B4-BE49-F238E27FC236}">
                <a16:creationId xmlns:a16="http://schemas.microsoft.com/office/drawing/2014/main" id="{3DB04F6C-24A3-460A-ABEA-B5D6A98C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71650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Assign</a:t>
            </a:r>
          </a:p>
        </p:txBody>
      </p:sp>
      <p:sp>
        <p:nvSpPr>
          <p:cNvPr id="8" name="final-body-0">
            <a:extLst xmlns:a="http://schemas.openxmlformats.org/drawingml/2006/main">
              <a:ext uri="{FF2B5EF4-FFF2-40B4-BE49-F238E27FC236}">
                <a16:creationId xmlns:a16="http://schemas.microsoft.com/office/drawing/2014/main" id="{473F1A31-A4ED-4C68-B399-AEBCC84B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191E"/>
                </a:solidFill>
              </a:defRPr>
            </a:pPr>
            <a:r>
              <a:rPr sz="1350" b="0">
                <a:solidFill>
                  <a:srgbClr val="16191E"/>
                </a:solidFill>
              </a:rPr>
              <a:t>Choose a deck, budget, and opponent set.</a:t>
            </a:r>
          </a:p>
        </p:txBody>
      </p:sp>
      <p:sp>
        <p:nvSpPr>
          <p:cNvPr id="9" name="final-step-1">
            <a:extLst xmlns:a="http://schemas.openxmlformats.org/drawingml/2006/main">
              <a:ext uri="{FF2B5EF4-FFF2-40B4-BE49-F238E27FC236}">
                <a16:creationId xmlns:a16="http://schemas.microsoft.com/office/drawing/2014/main" id="{EF084CE6-28C4-4563-8D2E-9F60B158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581150"/>
            <a:ext cx="33147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inal-num-1">
            <a:extLst xmlns:a="http://schemas.openxmlformats.org/drawingml/2006/main">
              <a:ext uri="{FF2B5EF4-FFF2-40B4-BE49-F238E27FC236}">
                <a16:creationId xmlns:a16="http://schemas.microsoft.com/office/drawing/2014/main" id="{F3C31D1F-30F9-4316-80EC-9824016F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716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1" name="final-head-1">
            <a:extLst xmlns:a="http://schemas.openxmlformats.org/drawingml/2006/main">
              <a:ext uri="{FF2B5EF4-FFF2-40B4-BE49-F238E27FC236}">
                <a16:creationId xmlns:a16="http://schemas.microsoft.com/office/drawing/2014/main" id="{223E32C1-AF4A-42C5-8F23-ABB00254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71650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Refresh</a:t>
            </a:r>
          </a:p>
        </p:txBody>
      </p:sp>
      <p:sp>
        <p:nvSpPr>
          <p:cNvPr id="12" name="final-body-1">
            <a:extLst xmlns:a="http://schemas.openxmlformats.org/drawingml/2006/main">
              <a:ext uri="{FF2B5EF4-FFF2-40B4-BE49-F238E27FC236}">
                <a16:creationId xmlns:a16="http://schemas.microsoft.com/office/drawing/2014/main" id="{70A5BD35-D72B-4C7F-9AC5-49C1F4AD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0505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191E"/>
                </a:solidFill>
              </a:defRPr>
            </a:pPr>
            <a:r>
              <a:rPr sz="1350" b="0">
                <a:solidFill>
                  <a:srgbClr val="16191E"/>
                </a:solidFill>
              </a:rPr>
              <a:t>Import lawful deck and price snapshots.</a:t>
            </a:r>
          </a:p>
        </p:txBody>
      </p:sp>
      <p:sp>
        <p:nvSpPr>
          <p:cNvPr id="13" name="final-step-2">
            <a:extLst xmlns:a="http://schemas.openxmlformats.org/drawingml/2006/main">
              <a:ext uri="{FF2B5EF4-FFF2-40B4-BE49-F238E27FC236}">
                <a16:creationId xmlns:a16="http://schemas.microsoft.com/office/drawing/2014/main" id="{4EE429BB-7C51-4A4A-8C9D-A788097D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81150"/>
            <a:ext cx="33147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inal-num-2">
            <a:extLst xmlns:a="http://schemas.openxmlformats.org/drawingml/2006/main">
              <a:ext uri="{FF2B5EF4-FFF2-40B4-BE49-F238E27FC236}">
                <a16:creationId xmlns:a16="http://schemas.microsoft.com/office/drawing/2014/main" id="{07249406-0D16-4DDD-9148-CB024517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716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5" name="final-head-2">
            <a:extLst xmlns:a="http://schemas.openxmlformats.org/drawingml/2006/main">
              <a:ext uri="{FF2B5EF4-FFF2-40B4-BE49-F238E27FC236}">
                <a16:creationId xmlns:a16="http://schemas.microsoft.com/office/drawing/2014/main" id="{BBB93205-8D20-4E94-8907-0D82D0C8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71650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Strategize</a:t>
            </a:r>
          </a:p>
        </p:txBody>
      </p:sp>
      <p:sp>
        <p:nvSpPr>
          <p:cNvPr id="16" name="final-body-2">
            <a:extLst xmlns:a="http://schemas.openxmlformats.org/drawingml/2006/main">
              <a:ext uri="{FF2B5EF4-FFF2-40B4-BE49-F238E27FC236}">
                <a16:creationId xmlns:a16="http://schemas.microsoft.com/office/drawing/2014/main" id="{809730ED-601A-4179-A6A9-0AD8A1A7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0505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191E"/>
                </a:solidFill>
              </a:defRPr>
            </a:pPr>
            <a:r>
              <a:rPr sz="1350" b="0">
                <a:solidFill>
                  <a:srgbClr val="16191E"/>
                </a:solidFill>
              </a:rPr>
              <a:t>Pick any LLM or deterministic policy.</a:t>
            </a:r>
          </a:p>
        </p:txBody>
      </p:sp>
      <p:sp>
        <p:nvSpPr>
          <p:cNvPr id="17" name="final-step-3">
            <a:extLst xmlns:a="http://schemas.openxmlformats.org/drawingml/2006/main">
              <a:ext uri="{FF2B5EF4-FFF2-40B4-BE49-F238E27FC236}">
                <a16:creationId xmlns:a16="http://schemas.microsoft.com/office/drawing/2014/main" id="{D307303B-6C08-4C0E-B32A-29521960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33147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inal-num-3">
            <a:extLst xmlns:a="http://schemas.openxmlformats.org/drawingml/2006/main">
              <a:ext uri="{FF2B5EF4-FFF2-40B4-BE49-F238E27FC236}">
                <a16:creationId xmlns:a16="http://schemas.microsoft.com/office/drawing/2014/main" id="{0317281A-B9EA-4B89-86FE-F1075965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9" name="final-head-3">
            <a:extLst xmlns:a="http://schemas.openxmlformats.org/drawingml/2006/main">
              <a:ext uri="{FF2B5EF4-FFF2-40B4-BE49-F238E27FC236}">
                <a16:creationId xmlns:a16="http://schemas.microsoft.com/office/drawing/2014/main" id="{A28D6DD6-F532-4DF5-BEB0-DF2D02BE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81400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Simulate</a:t>
            </a:r>
          </a:p>
        </p:txBody>
      </p:sp>
      <p:sp>
        <p:nvSpPr>
          <p:cNvPr id="20" name="final-body-3">
            <a:extLst xmlns:a="http://schemas.openxmlformats.org/drawingml/2006/main">
              <a:ext uri="{FF2B5EF4-FFF2-40B4-BE49-F238E27FC236}">
                <a16:creationId xmlns:a16="http://schemas.microsoft.com/office/drawing/2014/main" id="{71AA9E3A-74F9-44CE-BEB6-3E6DA54A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191E"/>
                </a:solidFill>
              </a:defRPr>
            </a:pPr>
            <a:r>
              <a:rPr sz="1350" b="0">
                <a:solidFill>
                  <a:srgbClr val="16191E"/>
                </a:solidFill>
              </a:rPr>
              <a:t>Run Rust gauntlets and checkpoint search.</a:t>
            </a:r>
          </a:p>
        </p:txBody>
      </p:sp>
      <p:sp>
        <p:nvSpPr>
          <p:cNvPr id="21" name="final-step-4">
            <a:extLst xmlns:a="http://schemas.openxmlformats.org/drawingml/2006/main">
              <a:ext uri="{FF2B5EF4-FFF2-40B4-BE49-F238E27FC236}">
                <a16:creationId xmlns:a16="http://schemas.microsoft.com/office/drawing/2014/main" id="{F843CCD4-D7BB-4276-8BF1-02953758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90900"/>
            <a:ext cx="33147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inal-num-4">
            <a:extLst xmlns:a="http://schemas.openxmlformats.org/drawingml/2006/main">
              <a:ext uri="{FF2B5EF4-FFF2-40B4-BE49-F238E27FC236}">
                <a16:creationId xmlns:a16="http://schemas.microsoft.com/office/drawing/2014/main" id="{F55AA7C5-58C0-4F19-8A05-59EF2FBE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814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3" name="final-head-4">
            <a:extLst xmlns:a="http://schemas.openxmlformats.org/drawingml/2006/main">
              <a:ext uri="{FF2B5EF4-FFF2-40B4-BE49-F238E27FC236}">
                <a16:creationId xmlns:a16="http://schemas.microsoft.com/office/drawing/2014/main" id="{CDD12D59-81A6-41D7-823C-C10D1F08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581400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Inspect</a:t>
            </a:r>
          </a:p>
        </p:txBody>
      </p:sp>
      <p:sp>
        <p:nvSpPr>
          <p:cNvPr id="24" name="final-body-4">
            <a:extLst xmlns:a="http://schemas.openxmlformats.org/drawingml/2006/main">
              <a:ext uri="{FF2B5EF4-FFF2-40B4-BE49-F238E27FC236}">
                <a16:creationId xmlns:a16="http://schemas.microsoft.com/office/drawing/2014/main" id="{92E0B84F-BB69-4F8C-99C4-B8D8FCC6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1480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191E"/>
                </a:solidFill>
              </a:defRPr>
            </a:pPr>
            <a:r>
              <a:rPr sz="1350" b="0">
                <a:solidFill>
                  <a:srgbClr val="16191E"/>
                </a:solidFill>
              </a:rPr>
              <a:t>Review Pareto results and verified replays.</a:t>
            </a:r>
          </a:p>
        </p:txBody>
      </p:sp>
      <p:sp>
        <p:nvSpPr>
          <p:cNvPr id="25" name="final-step-5">
            <a:extLst xmlns:a="http://schemas.openxmlformats.org/drawingml/2006/main">
              <a:ext uri="{FF2B5EF4-FFF2-40B4-BE49-F238E27FC236}">
                <a16:creationId xmlns:a16="http://schemas.microsoft.com/office/drawing/2014/main" id="{019659C1-7917-48BA-A1E8-57253699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90900"/>
            <a:ext cx="33147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inal-num-5">
            <a:extLst xmlns:a="http://schemas.openxmlformats.org/drawingml/2006/main">
              <a:ext uri="{FF2B5EF4-FFF2-40B4-BE49-F238E27FC236}">
                <a16:creationId xmlns:a16="http://schemas.microsoft.com/office/drawing/2014/main" id="{222DBDDD-7E98-43E7-8C56-A7C2A2AE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814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06</a:t>
            </a:r>
          </a:p>
        </p:txBody>
      </p:sp>
      <p:sp>
        <p:nvSpPr>
          <p:cNvPr id="27" name="final-head-5">
            <a:extLst xmlns:a="http://schemas.openxmlformats.org/drawingml/2006/main">
              <a:ext uri="{FF2B5EF4-FFF2-40B4-BE49-F238E27FC236}">
                <a16:creationId xmlns:a16="http://schemas.microsoft.com/office/drawing/2014/main" id="{6FD793B2-644D-418E-9E7E-433D76E4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81400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Promote</a:t>
            </a:r>
          </a:p>
        </p:txBody>
      </p:sp>
      <p:sp>
        <p:nvSpPr>
          <p:cNvPr id="28" name="final-body-5">
            <a:extLst xmlns:a="http://schemas.openxmlformats.org/drawingml/2006/main">
              <a:ext uri="{FF2B5EF4-FFF2-40B4-BE49-F238E27FC236}">
                <a16:creationId xmlns:a16="http://schemas.microsoft.com/office/drawing/2014/main" id="{D2BCD045-16F7-4873-97CE-0F087D27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1480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191E"/>
                </a:solidFill>
              </a:defRPr>
            </a:pPr>
            <a:r>
              <a:rPr sz="1350" b="0">
                <a:solidFill>
                  <a:srgbClr val="16191E"/>
                </a:solidFill>
              </a:rPr>
              <a:t>Keep only supported, reproducible gains.</a:t>
            </a:r>
          </a:p>
        </p:txBody>
      </p:sp>
      <p:sp>
        <p:nvSpPr>
          <p:cNvPr id="29" name="final-bar">
            <a:extLst xmlns:a="http://schemas.openxmlformats.org/drawingml/2006/main">
              <a:ext uri="{FF2B5EF4-FFF2-40B4-BE49-F238E27FC236}">
                <a16:creationId xmlns:a16="http://schemas.microsoft.com/office/drawing/2014/main" id="{B9E8B767-2508-48CE-A940-F6CF2DA8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1085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final-bar-text">
            <a:extLst xmlns:a="http://schemas.openxmlformats.org/drawingml/2006/main">
              <a:ext uri="{FF2B5EF4-FFF2-40B4-BE49-F238E27FC236}">
                <a16:creationId xmlns:a16="http://schemas.microsoft.com/office/drawing/2014/main" id="{0AF6445F-7C31-4340-8D65-D4C99EB0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Swap the strategist whenever you want. The deterministic referee—and the evidence—stay the same.</a:t>
            </a:r>
          </a:p>
        </p:txBody>
      </p:sp>
    </p:spTree>
    <p:extLst>
      <p:ext uri="{BB962C8B-B14F-4D97-AF65-F5344CB8AC3E}">
        <p14:creationId xmlns:p14="http://schemas.microsoft.com/office/powerpoint/2010/main" val="15946265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2026-08-31T20:19:20.6360000Z</dcterms:created>
  <dcterms:modified xsi:type="dcterms:W3CDTF">2026-08-31T20:19:20.6360000Z</dcterms:modified>
</coreProperties>
</file>