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fd81fe9e34f3f" /><Relationship Type="http://schemas.openxmlformats.org/officeDocument/2006/relationships/extended-properties" Target="/docProps/app.xml" Id="R97782e0b8aab4332" /><Relationship Type="http://schemas.openxmlformats.org/officeDocument/2006/relationships/officeDocument" Target="/ppt/presentation.xml" Id="R9b6edafc5f10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36447e6012423d"/>
  </p:sldMasterIdLst>
  <p:notesMasterIdLst>
    <p:notesMasterId xmlns:r="http://schemas.openxmlformats.org/officeDocument/2006/relationships" r:id="Re55c72cbe2cd4eb4"/>
  </p:notesMasterIdLst>
  <p:sldIdLst>
    <p:sldId xmlns:r="http://schemas.openxmlformats.org/officeDocument/2006/relationships" id="256" r:id="R4d2891250bf246be"/>
    <p:sldId xmlns:r="http://schemas.openxmlformats.org/officeDocument/2006/relationships" id="257" r:id="R6de78c4959aa415d"/>
    <p:sldId xmlns:r="http://schemas.openxmlformats.org/officeDocument/2006/relationships" id="258" r:id="R4c71d63719194fa9"/>
    <p:sldId xmlns:r="http://schemas.openxmlformats.org/officeDocument/2006/relationships" id="259" r:id="R8f5fc35310ea422c"/>
    <p:sldId xmlns:r="http://schemas.openxmlformats.org/officeDocument/2006/relationships" id="260" r:id="Rf2c8adca7c954ee9"/>
    <p:sldId xmlns:r="http://schemas.openxmlformats.org/officeDocument/2006/relationships" id="261" r:id="R1d13cd643b104b80"/>
    <p:sldId xmlns:r="http://schemas.openxmlformats.org/officeDocument/2006/relationships" id="262" r:id="Re803aceac7d94af0"/>
    <p:sldId xmlns:r="http://schemas.openxmlformats.org/officeDocument/2006/relationships" id="263" r:id="R51403a70c78541da"/>
    <p:sldId xmlns:r="http://schemas.openxmlformats.org/officeDocument/2006/relationships" id="264" r:id="Re3a363d45b9a492e"/>
    <p:sldId xmlns:r="http://schemas.openxmlformats.org/officeDocument/2006/relationships" id="265" r:id="R32f1a91331224dd5"/>
    <p:sldId xmlns:r="http://schemas.openxmlformats.org/officeDocument/2006/relationships" id="266" r:id="R820a048ff55042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58ac42f35482d" /><Relationship Type="http://schemas.openxmlformats.org/officeDocument/2006/relationships/slideMaster" Target="/ppt/slideMasters/slideMaster1.xml" Id="R4036447e6012423d" /><Relationship Type="http://schemas.openxmlformats.org/officeDocument/2006/relationships/notesMaster" Target="/ppt/notesMasters/notesMaster1.xml" Id="Re55c72cbe2cd4eb4" /><Relationship Type="http://schemas.openxmlformats.org/officeDocument/2006/relationships/presProps" Target="/ppt/presProps.xml" Id="R5c60f07120d3472c" /><Relationship Type="http://schemas.openxmlformats.org/officeDocument/2006/relationships/tableStyles" Target="/ppt/tableStyles.xml" Id="R26f0789575094d30" /><Relationship Type="http://schemas.openxmlformats.org/officeDocument/2006/relationships/slide" Target="/ppt/slides/slide1.xml" Id="R4d2891250bf246be" /><Relationship Type="http://schemas.openxmlformats.org/officeDocument/2006/relationships/slide" Target="/ppt/slides/slide2.xml" Id="R6de78c4959aa415d" /><Relationship Type="http://schemas.openxmlformats.org/officeDocument/2006/relationships/slide" Target="/ppt/slides/slide3.xml" Id="R4c71d63719194fa9" /><Relationship Type="http://schemas.openxmlformats.org/officeDocument/2006/relationships/slide" Target="/ppt/slides/slide4.xml" Id="R8f5fc35310ea422c" /><Relationship Type="http://schemas.openxmlformats.org/officeDocument/2006/relationships/slide" Target="/ppt/slides/slide5.xml" Id="Rf2c8adca7c954ee9" /><Relationship Type="http://schemas.openxmlformats.org/officeDocument/2006/relationships/slide" Target="/ppt/slides/slide6.xml" Id="R1d13cd643b104b80" /><Relationship Type="http://schemas.openxmlformats.org/officeDocument/2006/relationships/slide" Target="/ppt/slides/slide7.xml" Id="Re803aceac7d94af0" /><Relationship Type="http://schemas.openxmlformats.org/officeDocument/2006/relationships/slide" Target="/ppt/slides/slide8.xml" Id="R51403a70c78541da" /><Relationship Type="http://schemas.openxmlformats.org/officeDocument/2006/relationships/slide" Target="/ppt/slides/slide9.xml" Id="Re3a363d45b9a492e" /><Relationship Type="http://schemas.openxmlformats.org/officeDocument/2006/relationships/slide" Target="/ppt/slides/slide10.xml" Id="R32f1a91331224dd5" /><Relationship Type="http://schemas.openxmlformats.org/officeDocument/2006/relationships/slide" Target="/ppt/slides/slide11.xml" Id="R820a048ff550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c5010b3409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be11eae7a4bc4" /><Relationship Type="http://schemas.openxmlformats.org/officeDocument/2006/relationships/notesMaster" Target="/ppt/notesMasters/notesMaster1.xml" Id="R3fab5b06d7e0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c4dc388b414f7c" /><Relationship Type="http://schemas.openxmlformats.org/officeDocument/2006/relationships/notesMaster" Target="/ppt/notesMasters/notesMaster1.xml" Id="R1e9dfd43159541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e8aa0e3ca6448d" /><Relationship Type="http://schemas.openxmlformats.org/officeDocument/2006/relationships/notesMaster" Target="/ppt/notesMasters/notesMaster1.xml" Id="Rac37e8f2df64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6f5c12c62e44d7" /><Relationship Type="http://schemas.openxmlformats.org/officeDocument/2006/relationships/notesMaster" Target="/ppt/notesMasters/notesMaster1.xml" Id="Rdbb991d3391843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b1deffb8c489d" /><Relationship Type="http://schemas.openxmlformats.org/officeDocument/2006/relationships/notesMaster" Target="/ppt/notesMasters/notesMaster1.xml" Id="R995ea733c3a2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102cbab4c4e32" /><Relationship Type="http://schemas.openxmlformats.org/officeDocument/2006/relationships/notesMaster" Target="/ppt/notesMasters/notesMaster1.xml" Id="Ra46348caff5042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f69628ecb4211" /><Relationship Type="http://schemas.openxmlformats.org/officeDocument/2006/relationships/notesMaster" Target="/ppt/notesMasters/notesMaster1.xml" Id="Re93f5a6cf30f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72ccd17c2a4e25" /><Relationship Type="http://schemas.openxmlformats.org/officeDocument/2006/relationships/notesMaster" Target="/ppt/notesMasters/notesMaster1.xml" Id="R4d3d570054ce4d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0334872c07448d" /><Relationship Type="http://schemas.openxmlformats.org/officeDocument/2006/relationships/notesMaster" Target="/ppt/notesMasters/notesMaster1.xml" Id="Rc87df790274740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aebe549d44543" /><Relationship Type="http://schemas.openxmlformats.org/officeDocument/2006/relationships/notesMaster" Target="/ppt/notesMasters/notesMaster1.xml" Id="Rceac85665af146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66f314566a4c85" /><Relationship Type="http://schemas.openxmlformats.org/officeDocument/2006/relationships/notesMaster" Target="/ppt/notesMasters/notesMaster1.xml" Id="Rfc0f8870ffa44e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separates the authoritative rules path from research, search, and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C:\src\sorcery-tcg\docs\rules-catalog.md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engine is a service boundary even when it is linked as a native process rather than exposed over a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C:\src\sorcery-tcg\crates\sorcery-engine\src\lib.rs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RulesContext is shared across positions. A legal action is a typed choice, not a client-authored mutation.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C:\src\sorcery-tcg\docs\rules-catalog.md</a:t>
            </a:r>
          </a:p>
          <a:p xmlns:a="http://schemas.openxmlformats.org/drawingml/2006/main">
            <a:r>
              <a:t>- C:\src\sorcery-tcg\crates\sorcery-engine\src\facts.rs</a:t>
            </a:r>
          </a:p>
          <a:p xmlns:a="http://schemas.openxmlformats.org/drawingml/2006/main">
            <a:r>
              <a:t>- C:\src\sorcery-tcg\crates\sorcery-engine\src\action.rs</a:t>
            </a:r>
          </a:p>
          <a:p xmlns:a="http://schemas.openxmlformats.org/drawingml/2006/main">
            <a:r>
              <a:t>- C:\src\sorcery-tcg\crates\sorcery-engine\src\game.rs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Rollouts optimize choice. The authoritative replay proves the selected result and remains reproducible from its manifest and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C:\src\sorcery-tcg\crates\sorcery-engine\src\checkpoint.rs</a:t>
            </a:r>
          </a:p>
          <a:p xmlns:a="http://schemas.openxmlformats.org/drawingml/2006/main">
            <a:r>
              <a:t>- C:\src\sorcery-tcg\crates\sorcery-engine\src\simulator.rs</a:t>
            </a:r>
          </a:p>
          <a:p xmlns:a="http://schemas.openxmlformats.org/drawingml/2006/main">
            <a:r>
              <a:t>- C:\src\sorcery-tcg\crates\sorcery-engine\src\canonical.rs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 is rebuildable and private. The rollout hot path never queries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C:\src\sorcery-tcg\docs\local-card-catalog.md</a:t>
            </a:r>
          </a:p>
          <a:p xmlns:a="http://schemas.openxmlformats.org/drawingml/2006/main">
            <a:r>
              <a:t>- C:\src\sorcery-tcg\src\catalog\card-catalog.ts</a:t>
            </a:r>
          </a:p>
          <a:p xmlns:a="http://schemas.openxmlformats.org/drawingml/2006/main">
            <a:r>
              <a:t>- C:\src\sorcery-tcg\docs\rules-catalog.md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plot is conceptual, not benchmark data. Price is an objective for deck search, never a rule in game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C:\src\sorcery-tcg\docs\self-play-reliability.md</a:t>
            </a:r>
          </a:p>
          <a:p xmlns:a="http://schemas.openxmlformats.org/drawingml/2006/main">
            <a:r>
              <a:t>- C:\src\sorcery-tcg\docs\local-card-catalog.md</a:t>
            </a:r>
          </a:p>
          <a:p xmlns:a="http://schemas.openxmlformats.org/drawingml/2006/main">
            <a:r>
              <a:t>- C:\src\sorcery-tcg\crates\sorcery-engine\src\deck.rs</a:t>
            </a:r>
          </a:p>
          <a:p xmlns:a="http://schemas.openxmlformats.org/drawingml/2006/main">
            <a:r>
              <a:t>- C:\src\sorcery-tcg\crates\sorcery-engine\src\selfplay.rs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can improve policy choices only after the exercised rules are supported and replay-verifiable.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C:\src\sorcery-tcg\docs\self-play-reliability.md</a:t>
            </a:r>
          </a:p>
          <a:p xmlns:a="http://schemas.openxmlformats.org/drawingml/2006/main">
            <a:r>
              <a:t>- C:\src\sorcery-tcg\crates\sorcery-engine\src\selfplay.rs</a:t>
            </a:r>
          </a:p>
          <a:p xmlns:a="http://schemas.openxmlformats.org/drawingml/2006/main">
            <a:r>
              <a:t>- C:\src\sorcery-tcg\crates\sorcery-engine\tests\selfplay.rs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 count taken from data/rules/catalog.json at deck generation time: 81 rust-supported and 79 typescript-supported entries.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C:\src\sorcery-tcg\data\rules\catalog.json</a:t>
            </a:r>
          </a:p>
          <a:p xmlns:a="http://schemas.openxmlformats.org/drawingml/2006/main">
            <a:r>
              <a:t>- C:\src\sorcery-tcg\docs\rules-catalog.md</a:t>
            </a:r>
          </a:p>
          <a:p xmlns:a="http://schemas.openxmlformats.org/drawingml/2006/main">
            <a:r>
              <a:t>- C:\src\sorcery-tcg\AGENTS.md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is the intended model-neutral tool interface. The current repository exposes native/CLI boundaries first; the MCP adapter follows the same authority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C:\src\sorcery-tcg\crates\sorcery-engine\src\bin\sorcery-engine.rs</a:t>
            </a:r>
          </a:p>
          <a:p xmlns:a="http://schemas.openxmlformats.org/drawingml/2006/main">
            <a:r>
              <a:t>- C:\src\sorcery-tcg\crates\sorcery-engine\src\contract.rs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coverage count is exact for the checked-in catalog. Performance numbers are project targets, not measured results from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C:\src\sorcery-tcg\data\rules\catalog.json</a:t>
            </a:r>
          </a:p>
          <a:p xmlns:a="http://schemas.openxmlformats.org/drawingml/2006/main">
            <a:r>
              <a:t>- C:\src\sorcery-tcg\docs\self-play-reliability.md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User-authored migration target in this task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ordering protects correctness: the model layer consumes evidence but never substitutes for the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C:\src\sorcery-tcg\AGENTS.md</a:t>
            </a:r>
          </a:p>
          <a:p xmlns:a="http://schemas.openxmlformats.org/drawingml/2006/main">
            <a:r>
              <a:t>- C:\src\sorcery-tcg\docs\rules-catalog.md</a:t>
            </a:r>
          </a:p>
          <a:p xmlns:a="http://schemas.openxmlformats.org/drawingml/2006/main">
            <a:r>
              <a:t>- C:\src\sorcery-tcg\docs\self-play-reliability.md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65e4aae3c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ae2e55a624968" /><Relationship Type="http://schemas.openxmlformats.org/officeDocument/2006/relationships/slideLayout" Target="/ppt/slideLayouts/slideLayout1.xml" Id="Rceeaf827b1a2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eaf827b1a2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6aa9c25aa481f" /><Relationship Type="http://schemas.openxmlformats.org/officeDocument/2006/relationships/notesSlide" Target="/ppt/notesSlides/notesSlide1.xml" Id="R0b8622656750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943f59a134ab2" /><Relationship Type="http://schemas.openxmlformats.org/officeDocument/2006/relationships/notesSlide" Target="/ppt/notesSlides/notesSlide2.xml" Id="R218d3bede7d6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ac2898a764bf0" /><Relationship Type="http://schemas.openxmlformats.org/officeDocument/2006/relationships/notesSlide" Target="/ppt/notesSlides/notesSlide3.xml" Id="R774099e770e2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7bb32a5d141e4" /><Relationship Type="http://schemas.openxmlformats.org/officeDocument/2006/relationships/notesSlide" Target="/ppt/notesSlides/notesSlide4.xml" Id="R74627cb95bae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3a21aafa4d7e" /><Relationship Type="http://schemas.openxmlformats.org/officeDocument/2006/relationships/notesSlide" Target="/ppt/notesSlides/notesSlide5.xml" Id="R7e6e48c9c0ce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e901c64534c50" /><Relationship Type="http://schemas.openxmlformats.org/officeDocument/2006/relationships/notesSlide" Target="/ppt/notesSlides/notesSlide6.xml" Id="Re20cde80bd5e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aeabc63d64335" /><Relationship Type="http://schemas.openxmlformats.org/officeDocument/2006/relationships/notesSlide" Target="/ppt/notesSlides/notesSlide7.xml" Id="Rcc071460448d49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0ff9cd17341f0" /><Relationship Type="http://schemas.openxmlformats.org/officeDocument/2006/relationships/notesSlide" Target="/ppt/notesSlides/notesSlide8.xml" Id="R35337c7fa4654d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9b27e10464e45" /><Relationship Type="http://schemas.openxmlformats.org/officeDocument/2006/relationships/notesSlide" Target="/ppt/notesSlides/notesSlide9.xml" Id="R624dc366301849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1ba0f6c07460c" /><Relationship Type="http://schemas.openxmlformats.org/officeDocument/2006/relationships/notesSlide" Target="/ppt/notesSlides/notesSlide10.xml" Id="R2dd868d936ba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7f44adde4849" /><Relationship Type="http://schemas.openxmlformats.org/officeDocument/2006/relationships/notesSlide" Target="/ppt/notesSlides/notesSlide11.xml" Id="R49b8d03576af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3EEE0-C4CB-4FB8-A877-78CC3CEB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SORCERY 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720B5-4A6C-4C74-896B-DFC3D25C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authoritative engine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rules, simulation,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deck search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4629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A698A-DB98-42E4-98AF-025554B2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How Rust, private card data, deterministic self-play, and LLM tools fit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83453-5422-47E6-A8ED-AC30A406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293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33116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54B195C-3E82-442C-B1D4-FA07595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owns every move; everything else 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81F49-AE84-43F3-8DDE-56A287F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CEEEC-754B-421A-BF01-B201985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81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22872-1F1E-425F-A7D5-D45FB2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TypeScript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423FE-B850-4C59-AFAA-B1F53B0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62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Authority ingestion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Server transport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Browser-facing payloads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C3814-884D-4511-9D71-A956732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E01C6-72A5-4A2F-89C4-690462F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76400"/>
            <a:ext cx="40386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52357-F1CB-4FBA-A5DA-1212DAB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478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Authoritative 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8ED08-74A6-4CA8-9EE9-2F6080A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47900"/>
            <a:ext cx="3619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RulesContext + state</a:t>
            </a:r>
          </a:p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Legal actions + transitions</a:t>
            </a:r>
          </a:p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Checkpoints + simulation</a:t>
            </a:r>
          </a:p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Search + final 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A9F-0BBD-4395-9934-B9F797A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D14C6-6A60-48B8-A6E9-B35B5F0E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3181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657CC-31A0-4A88-B9F4-DDBA7C6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33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6BCA6-4131-4649-B5B3-BD047DC5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CLI and server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Deck optimizer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MCP / LLM tools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Human-readable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02A63-A48D-4C2D-81A0-AB715AE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403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Only engine-issued actions cross into state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5DDF9-9CAC-4820-9760-694968C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The UI can change later without changing what is legal.</a:t>
            </a:r>
          </a:p>
        </p:txBody>
      </p:sp>
    </p:spTree>
    <p:extLst>
      <p:ext uri="{BB962C8B-B14F-4D97-AF65-F5344CB8AC3E}">
        <p14:creationId xmlns:p14="http://schemas.microsoft.com/office/powerpoint/2010/main" val="964268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A548403-D54D-43EA-81ED-3635445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Readable facts become typed legal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8D1C1-8EE4-474E-90FB-9533B01A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D7203-C6B7-4023-A7C9-9FA50316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2E786-A33F-475D-9FFC-E7BF2FC9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RulesContext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7437-E21F-43C8-95B6-0B23A7A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828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Immutable card and rule facts loaded 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25B77-E2C2-4002-8F8A-D97D86B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575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D3DC8-85F8-41A5-8D8A-E1124981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7940B-3CC6-4DCC-8FC5-76749789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GameState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A6DA0-ED4A-4047-A5BC-5BDD2ADE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828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Compact IDs, enums, arrays, zones, PRNG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4B69E-0636-4242-BBE9-50A08C2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7BC1B-ADFE-47A0-9136-BA9A90B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D158D-D7C1-4E4B-A299-6300DF9D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LegalAction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37544-F4EA-424C-AE57-B5FA3FF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1828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Canonical ordered choices issued by the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884A1-EEFE-4E79-8ECE-B05ADFC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3E410-FDAF-4C99-A713-435AA9C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524F2-DEB6-4067-8E96-005E916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21DAF-3836-42D8-9379-ECE8C25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914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Validate action ID, mutate state, emit 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AA63F-F10F-4695-8D09-4FB7C1AD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Card names do not decide legality.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02CC6-9B6A-4D07-AF8C-92B45F9C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Generic facts route through shared helpers; the public rules catalog points to one direct scenario proof per supported behavior.</a:t>
            </a:r>
          </a:p>
        </p:txBody>
      </p:sp>
    </p:spTree>
    <p:extLst>
      <p:ext uri="{BB962C8B-B14F-4D97-AF65-F5344CB8AC3E}">
        <p14:creationId xmlns:p14="http://schemas.microsoft.com/office/powerpoint/2010/main" val="1713849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1059B13-726D-4214-8C3F-ACBCC2F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 stays light; the chosen line gets full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4697A-1D70-46AD-9369-A10FB8BE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972ED-55C3-4D02-BCFD-81F0F00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MANY SPECULATIVE BRANCHES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09277-EAC6-4788-9A49-829C184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D1F86-7384-4690-AE49-5DE2CA26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E6576-8D90-423E-A88A-9BB488D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Deterministic branch root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C546F-5E37-42D3-AAEF-CD5EBBE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0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A1D78-5C66-406C-8E1D-8F466FFB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52117-2391-4E83-8651-E43A852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Clone 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DAE0E-5C69-4B9F-B07F-9BA72535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Compact in-memory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2A263-6B56-44EE-BABB-55CF3AB4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00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4B4DF-EA97-49FD-B1F7-56FA326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098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08966-6567-4AA6-9C10-66D66E06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rollouts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B4BF6-0DEA-4FC5-BBFE-0389F39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Stay inside native 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D54A7-B3C1-4073-B0BF-78E129F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A13E9-59F7-4430-85A7-E633217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10F47-7383-4A79-9D93-2045218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59C97-7119-4C90-BFAF-9116F3E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Strength, cost,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8DFFB-ACB0-4037-8A8B-DC3A38CB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No JSON, hashing, journals, or FFI crossing at each 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46B90-1CB4-4007-90B6-12CDB53E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SELECTED RESULT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49720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DCBF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34516-D55B-4D78-9E75-056937B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manifest + seed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87B3F-598F-46CB-9D07-60F8F3B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23D01-4996-427B-9408-93137EF1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43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authoritative replay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1D8CA-7637-4DF4-AEB5-925E5FC9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67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5CA1F-2208-40ED-A5A2-D7EA879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events + hashes + receipts + journal</a:t>
            </a:r>
          </a:p>
        </p:txBody>
      </p:sp>
    </p:spTree>
    <p:extLst>
      <p:ext uri="{BB962C8B-B14F-4D97-AF65-F5344CB8AC3E}">
        <p14:creationId xmlns:p14="http://schemas.microsoft.com/office/powerpoint/2010/main" val="1801078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51A04D0-796E-49D5-8A9E-F660B2FC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catalog supports research—not runtime legality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0AEED-1A74-4296-ABE9-0CDAAEB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DC8D-625B-4EA6-AA00-6CC0E2E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5623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04A0C-440F-4A4A-87CE-A35835B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IGNORED PRIVATE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876AC-E292-4851-A37F-B8B56FB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.local/authority/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5133D-7CD5-4AC7-8F28-13FF947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Immutable SQLite catalog</a:t>
            </a:r>
          </a:p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• normalized card facts</a:t>
            </a:r>
          </a:p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• source-qualified IDs</a:t>
            </a:r>
          </a:p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• printing aliases</a:t>
            </a:r>
          </a:p>
          <a:p xmlns:a="http://schemas.openxmlformats.org/drawingml/2006/main">
            <a:pPr algn="l">
              <a:def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• price snapshots and quotes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5DAAF-D6B8-4A0D-B2AF-8BC636F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480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DF24D-9F06-48FE-BF5C-A4300CCB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AD6F3-C84E-4F51-976D-1F4DC857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Load 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8250D-3B9B-4575-8C06-08F36DB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05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Validate manifest and materialize shared immutable 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97440-CB75-48E5-A46C-21CAECE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E440B-3263-4775-B58A-F5CABC9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3924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A780B-E134-441A-8D69-506F277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In-memory 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C7D35-26C2-4EB6-96B6-0D0DB901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505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RulesContext</a:t>
            </a:r>
          </a:p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Compact positions</a:t>
            </a:r>
          </a:p>
          <a:p xmlns:a="http://schemas.openxmlformats.org/drawingml/2006/main">
            <a:pPr algn="l">
              <a:def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Whole rollout batches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E161E-0F6E-400F-B726-1D2125B7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Research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59E0B-16DF-4279-8859-93E894DC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483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catalog → deck corpus + prices → candidate generator → simulation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E7B81-C2BB-4566-9AB1-30D138E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 database or vector store enters only when measured research workloads need it.</a:t>
            </a:r>
          </a:p>
        </p:txBody>
      </p:sp>
    </p:spTree>
    <p:extLst>
      <p:ext uri="{BB962C8B-B14F-4D97-AF65-F5344CB8AC3E}">
        <p14:creationId xmlns:p14="http://schemas.microsoft.com/office/powerpoint/2010/main" val="429912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48AE3B4-6A40-4127-ABE3-6A2F8390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Deck search keeps the strongest affordable frontier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EAB5E-6A65-4C5E-A894-76E1FB7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4DAD-1650-4F8E-A7E6-2B04E919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CONCEPTUAL PRICE–POWER FRONTIER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95350" y="5505450"/>
            <a:ext cx="459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895350" y="2133600"/>
            <a:ext cx="0" cy="3371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D1ABE-8E9C-4857-9E4F-9880C264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38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lower price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ABBA2-C1B2-4821-B80A-2FA0610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more wins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8A7A4-1752-4702-B09F-12CE77C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57813-C3A1-4821-9CA1-D43ECDF2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67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C93CB-9569-4A09-B1A3-8258BC1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4185-D337-4C94-82DF-0DC093A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FEB43-58B8-41AA-B78B-1AB7521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D8E52-FA0D-4497-9574-C2F7D710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02D34-2F5E-46C5-936F-4A7A276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28D78-AC64-4D23-8264-EA201E5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667125" y="3714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4391025" y="31813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923B7-E19C-4111-9A4A-748B182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Keep decks no other candidate beats</a:t>
            </a:r>
          </a:p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 both cost and replay-verified strength.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2450B-1415-4CC1-9E7D-DADBA36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46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31E2F-821A-4265-AB68-70041E9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Build the corpus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CE9A0-98A0-4BF0-BE13-FD47CB98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Import permissioned deck lists and preserve provenance.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59036-13D4-4E89-B2AB-946B5D10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46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F3ADF-A431-4476-9134-6387FFA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Price exactly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792A3-C7F8-433A-83E6-279B321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Use printing, variant, condition, currency, and observation time.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647A1-5B25-476D-A0A7-0AA62FD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546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0FE30-4752-4429-B047-5BB0FC1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Compare fairly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CA135-4207-4000-BA90-FD02FB87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Rust compare_decks fixes policy, seeds, opponents, and seats; it replays only the winner.</a:t>
            </a:r>
          </a:p>
        </p:txBody>
      </p:sp>
    </p:spTree>
    <p:extLst>
      <p:ext uri="{BB962C8B-B14F-4D97-AF65-F5344CB8AC3E}">
        <p14:creationId xmlns:p14="http://schemas.microsoft.com/office/powerpoint/2010/main" val="1732402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33C2E9C-C156-412E-A793-9CEADE21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Self-play improves decisions, never legality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01E1-6988-4D8D-9ACD-9AA76E2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504950" y="29527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3810000" y="29527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6115050" y="29527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8420100" y="29527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7BD91-B6AC-455A-AB71-95758DA0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2FEFA-C02E-4825-A5F5-A59EAE4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E2BDA-C6DC-4F28-A44A-98C7109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DB054-9385-4288-AE14-8D7BAD80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Authority, deck, opponents, policy, seed partitions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5361E-F5EF-4D3A-B6EE-C8409DE2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737DA-232D-453E-B8DD-7146B1E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B955-F114-4534-BD39-6BB3FCA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neighbors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79BF9-5E06-47A5-AE14-F968CE27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71900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One-step deterministic policy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358DB-2847-4BBE-A2C3-8457D3E2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14360-9C5B-4FC8-B3B9-0AFF9DF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A1ACD-8426-4AFA-AC72-DA3D127B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paired games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7E0A2-E631-48EB-86AB-4966CE83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71900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Both seats on the same held-out seeds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A2C94-60BC-493F-9470-6ED22A4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5A8BC-83AF-4413-ABB6-AD095D21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4F9C2-C875-4FD1-9A08-BE6A5BE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Promote carefully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B3992-CB27-44B4-A17D-DB8F167E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71900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Statistical and subgroup gates must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14CFA-BAEB-427D-935A-48C0735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5E25B-397D-4458-988F-0A2530E8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71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663A7-552B-4574-9081-AA381F61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 + seal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2BE3A-E31C-43AF-80F2-41F63AD2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Fresh authoritative replays and checkpoint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50CDC-4360-4A56-AA29-7899AFB2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5F9B0-7EF8-4326-A5CC-E5C2A38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 one axis per experiment: deck composition or policy—not both.</a:t>
            </a:r>
          </a:p>
        </p:txBody>
      </p:sp>
    </p:spTree>
    <p:extLst>
      <p:ext uri="{BB962C8B-B14F-4D97-AF65-F5344CB8AC3E}">
        <p14:creationId xmlns:p14="http://schemas.microsoft.com/office/powerpoint/2010/main" val="128091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22DA098-BF13-4671-882E-F27A115D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rules bug becomes a permanent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159E3-3591-4549-B2D7-0E9F2356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25922-5BF5-44EE-9A99-45604E7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81 / 160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2EC72-5B45-4C75-AAC9-1B417D09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public catalog scenarios</a:t>
            </a:r>
          </a:p>
          <a:p xmlns:a="http://schemas.openxmlformats.org/drawingml/2006/main">
            <a:pPr algn="l">
              <a:defRPr sz="16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proved directly in Rust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74D34-AC0C-4038-ACFF-30B52B1E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is explicit: unsupported exercised mechanics fail closed instead of silently becoming valid training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A7FC9-ECEE-44DD-8EEC-770876B1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EE0A1-26AC-4FCC-813E-700F403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6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AE519-F6BD-4635-A1AA-C87665C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scenario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F08D4-D3FE-43B9-ABD3-5E72EA3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One public test for each supported rule slice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D1CC0-20C3-49E8-B30F-05EDFFE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49B40-998C-43CC-A222-2B85E7F8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4AEE2-8ADE-44D7-BC41-4F5EC10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Locked Rust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8A066-861D-40F7-A7D6-656ED95B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format • check • Clippy • workspace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87645-9841-43E3-8B81-84BF5E1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4710C-FA18-4AB9-AB02-6BAE090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14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DF854-E802-4C47-BBE3-7658F1D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Parity + determinism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98B0A-9BD6-4F8D-8FB1-81A06DB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52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action order • state • events • replay hashes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AC7C4-037A-4C0A-8AC0-D162DD41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367CA-20C6-4C11-B875-559B2610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91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9D502-0249-4BAD-BA41-69F6E41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6A178-1BF1-4EE2-84C6-C3194FA0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paired seat swaps • throughput •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5F695-0E72-40C4-BC01-B858B85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625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754F1-5245-402F-8BA8-0CAA0FB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67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73DD2-C4ED-467A-8BBA-B2386AF5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43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authority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B7D66-E094-467E-85CB-E39D3E8A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05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only when ignored local inputs exist</a:t>
            </a:r>
          </a:p>
        </p:txBody>
      </p:sp>
    </p:spTree>
    <p:extLst>
      <p:ext uri="{BB962C8B-B14F-4D97-AF65-F5344CB8AC3E}">
        <p14:creationId xmlns:p14="http://schemas.microsoft.com/office/powerpoint/2010/main" val="853621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A3B14D6-B1D0-4898-8DEA-A768B491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Any LLM can ask; none can rewrite the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5E2F0-ACDF-4CDB-9738-1BF0EA8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A85C7-A204-4D18-B091-7FE97E4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20A62-9697-4473-965E-E373644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F7CFF-F075-4DA7-B4FE-43F1884D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305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OpenAI models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Anthropic models</a:t>
            </a:r>
          </a:p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Local or future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D56D1-FF56-4ECF-BAA1-E3C872D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EAE4C-F4F1-4570-B210-E2731A7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95450"/>
            <a:ext cx="34290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0D002-6A34-43A7-AB62-46F6757D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669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Thin MCP / tool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5D144-1A8E-4BA8-A1EF-6DC50A2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3009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Evaluate a deck</a:t>
            </a:r>
          </a:p>
          <a:p xmlns:a="http://schemas.openxmlformats.org/drawingml/2006/main">
            <a:pPr algn="l">
              <a:def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Compare candidates</a:t>
            </a:r>
          </a:p>
          <a:p xmlns:a="http://schemas.openxmlformats.org/drawingml/2006/main">
            <a:pPr algn="l">
              <a:def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Run a scenario</a:t>
            </a:r>
          </a:p>
          <a:p xmlns:a="http://schemas.openxmlformats.org/drawingml/2006/main">
            <a:pPr algn="l">
              <a:def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Explain a 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CB8F5-DAB3-4E29-A25C-F76152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7AA05-7744-4D35-9173-305E0D8B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752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DC455-6264-4B6E-A29F-3EB17737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967E8-78DB-4675-931A-367C512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Returns legal actions, simulations, scores, checkpoints, and replay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3CBD2-D2B5-429F-9F81-48CE477F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37BAE-A5DF-4252-856C-0287E98C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Allowed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85C81-2B1E-44A8-82DA-F9A510E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propose • request • rank •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CA607-369B-416E-8712-D7973F1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958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231A1-632B-4E18-AD06-862C4931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BA3DB-98ED-4F17-8FB1-1EA1B06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8635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mutate state • invent actions • define legality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605B3-B394-4973-906A-6D318681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The MCP server is an adapter, not a referee.</a:t>
            </a:r>
          </a:p>
        </p:txBody>
      </p:sp>
    </p:spTree>
    <p:extLst>
      <p:ext uri="{BB962C8B-B14F-4D97-AF65-F5344CB8AC3E}">
        <p14:creationId xmlns:p14="http://schemas.microsoft.com/office/powerpoint/2010/main" val="1705941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6882B115-2F61-478B-B1A5-C1F31271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milestones end with one engine and measured speed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20D04-A54E-4747-96C1-8A3DD6DF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3162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9D1DF-1FAE-4B5A-B970-E98BED5A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53475-F3A1-4667-8205-59BD337B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2CD4-8C34-44C1-AF5D-8C871E4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Rust foundation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03432-73E1-43DF-821A-F996B74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162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Compact state, checkpoints, simulation, replay, self-play gates, deterministic deck comparison, private catalog, 81/160 direct proofs.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4329F-4994-4992-8E65-DD6A278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13BF7-0B5A-4434-B538-693C4B8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CUTOVER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BA021-FF17-46F1-99F9-DE82F17D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57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Finish authority migration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FB673-B692-425D-B5C4-A10A475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3162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Port remaining supported mechanics, shadow parity, move all consumers to Rust, delete the TypeScript legality engine.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1A6AA-2120-4E71-8260-F134A60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8C0A5-3406-4FE3-A1DA-436C44EE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MATURE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C24DE-5339-44BA-A932-1EB69CD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decks continuously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704D2-41BA-4B52-95FB-5A0BCBB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62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Permissioned deck corpus + prices, cost-aware search, reliable self-play, MCP tools, all-core release profiling.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FF3F6-0506-41EB-9225-1675DDC8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Performance targets: ≥10,000 transitions/s/core for cutover; 25,000–50,000 where mature workloads permit.</a:t>
            </a:r>
          </a:p>
        </p:txBody>
      </p:sp>
    </p:spTree>
    <p:extLst>
      <p:ext uri="{BB962C8B-B14F-4D97-AF65-F5344CB8AC3E}">
        <p14:creationId xmlns:p14="http://schemas.microsoft.com/office/powerpoint/2010/main" val="1159469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D7CB8-555F-4248-95CF-A232273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DESTINATION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99A66-C4EF-4343-A28A-78C7D44C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trusted simulator first.</a:t>
            </a:r>
          </a:p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optimization laboratory second.</a:t>
            </a:r>
          </a:p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AI interface third.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4343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44D10-AF19-4DE7-A609-C56B3E43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known decks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57954-5770-4854-A5C1-D72FD418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price /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0AB72-A3FC-43B5-B6B6-8012145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deterministic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E707B-62E5-4D20-A690-751F758A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with any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51ACD-12EB-4E11-B189-804DB782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068"/>
                </a:solidFill>
                <a:latin typeface="Helvetica Neue"/>
                <a:ea typeface="Helvetica Neue"/>
                <a:cs typeface="Helvetica Neue"/>
              </a:rPr>
              <a:t>One engine • reproducible evidence • human-reviewable coverage</a:t>
            </a:r>
          </a:p>
        </p:txBody>
      </p:sp>
    </p:spTree>
    <p:extLst>
      <p:ext uri="{BB962C8B-B14F-4D97-AF65-F5344CB8AC3E}">
        <p14:creationId xmlns:p14="http://schemas.microsoft.com/office/powerpoint/2010/main" val="147369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2026-09-01T22:05:15.2680000Z</dcterms:created>
  <dcterms:modified xsi:type="dcterms:W3CDTF">2026-09-01T22:05:15.2680000Z</dcterms:modified>
</coreProperties>
</file>